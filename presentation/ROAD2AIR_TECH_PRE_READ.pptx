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DCD93-82DC-E7A6-66ED-5EA4ABADC1CD}" v="262" dt="2026-06-11T11:30:14.980"/>
    <p1510:client id="{314AB564-4DB2-B514-7105-CD3CCD455136}" v="26" dt="2026-06-11T12:22:31.160"/>
    <p1510:client id="{5642358D-6F72-4E98-A26E-18705CBEB8EC}" v="265" dt="2026-06-11T11:51:57.858"/>
    <p1510:client id="{FD6995D3-EA87-4648-B139-4A0A5416A443}" v="250" dt="2026-06-11T11:53:35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8B390-031F-45ED-9404-670BE0D4381E}" type="datetimeFigureOut">
              <a:rPr lang="en-SE" smtClean="0"/>
              <a:t>06/12/2026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48B37-0C90-472D-80D4-B11B28A5F58A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79767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48B37-0C90-472D-80D4-B11B28A5F58A}" type="slidenum">
              <a:rPr lang="en-SE" smtClean="0"/>
              <a:t>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75362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hungnguyenforworks-lgtm.github.io/SAAB-Smart-Airbase-with-Road2Air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ipen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097" y="-345977"/>
            <a:ext cx="2766031" cy="19709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4929" y="259507"/>
            <a:ext cx="5600000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ROAD2AIR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929" y="1905937"/>
            <a:ext cx="5600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D7AB3A"/>
                </a:solidFill>
                <a:latin typeface="Arial"/>
              </a:rPr>
              <a:t>Digital </a:t>
            </a:r>
            <a:r>
              <a:rPr sz="1900" b="0" i="0" err="1">
                <a:solidFill>
                  <a:srgbClr val="D7AB3A"/>
                </a:solidFill>
                <a:latin typeface="Arial"/>
              </a:rPr>
              <a:t>flygbassimulator</a:t>
            </a:r>
            <a:r>
              <a:rPr sz="1900" b="0" i="0">
                <a:solidFill>
                  <a:srgbClr val="D7AB3A"/>
                </a:solidFill>
                <a:latin typeface="Arial"/>
              </a:rPr>
              <a:t> för Smart Air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929" y="2348361"/>
            <a:ext cx="5450000" cy="6417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C9D4E6"/>
                </a:solidFill>
                <a:latin typeface="Arial"/>
              </a:rPr>
              <a:t>En 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webbaserad</a:t>
            </a:r>
            <a:r>
              <a:rPr sz="1320" b="0" i="0">
                <a:solidFill>
                  <a:srgbClr val="C9D4E6"/>
                </a:solidFill>
                <a:latin typeface="Arial"/>
              </a:rPr>
              <a:t> 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digitalisering</a:t>
            </a:r>
            <a:r>
              <a:rPr sz="1320" b="0" i="0">
                <a:solidFill>
                  <a:srgbClr val="C9D4E6"/>
                </a:solidFill>
                <a:latin typeface="Arial"/>
              </a:rPr>
              <a:t> av 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flygbasbrädspelet</a:t>
            </a:r>
            <a:r>
              <a:rPr sz="1320" b="0" i="0">
                <a:solidFill>
                  <a:srgbClr val="C9D4E6"/>
                </a:solidFill>
                <a:latin typeface="Arial"/>
              </a:rPr>
              <a:t>: 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spelbar</a:t>
            </a:r>
            <a:r>
              <a:rPr sz="1320" b="0" i="0">
                <a:solidFill>
                  <a:srgbClr val="C9D4E6"/>
                </a:solidFill>
                <a:latin typeface="Arial"/>
              </a:rPr>
              <a:t> 7-dygns 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kampanj</a:t>
            </a:r>
            <a:r>
              <a:rPr sz="1320" b="0" i="0">
                <a:solidFill>
                  <a:srgbClr val="C9D4E6"/>
                </a:solidFill>
                <a:latin typeface="Arial"/>
              </a:rPr>
              <a:t>, ATO-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hantering</a:t>
            </a:r>
            <a:r>
              <a:rPr sz="1320" b="0" i="0">
                <a:solidFill>
                  <a:srgbClr val="C9D4E6"/>
                </a:solidFill>
                <a:latin typeface="Arial"/>
              </a:rPr>
              <a:t>, 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stokastiska</a:t>
            </a:r>
            <a:r>
              <a:rPr sz="1320" b="0" i="0">
                <a:solidFill>
                  <a:srgbClr val="C9D4E6"/>
                </a:solidFill>
                <a:latin typeface="Arial"/>
              </a:rPr>
              <a:t> 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utfall</a:t>
            </a:r>
            <a:r>
              <a:rPr sz="1320" b="0" i="0">
                <a:solidFill>
                  <a:srgbClr val="C9D4E6"/>
                </a:solidFill>
                <a:latin typeface="Arial"/>
              </a:rPr>
              <a:t>, 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underhåll</a:t>
            </a:r>
            <a:r>
              <a:rPr sz="1320" b="0" i="0">
                <a:solidFill>
                  <a:srgbClr val="C9D4E6"/>
                </a:solidFill>
                <a:latin typeface="Arial"/>
              </a:rPr>
              <a:t>, 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resurser</a:t>
            </a:r>
            <a:r>
              <a:rPr sz="1320" b="0" i="0">
                <a:solidFill>
                  <a:srgbClr val="C9D4E6"/>
                </a:solidFill>
                <a:latin typeface="Arial"/>
              </a:rPr>
              <a:t>, 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taktisk</a:t>
            </a:r>
            <a:r>
              <a:rPr sz="1320" b="0" i="0">
                <a:solidFill>
                  <a:srgbClr val="C9D4E6"/>
                </a:solidFill>
                <a:latin typeface="Arial"/>
              </a:rPr>
              <a:t> 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karta</a:t>
            </a:r>
            <a:r>
              <a:rPr sz="1320" b="0" i="0">
                <a:solidFill>
                  <a:srgbClr val="C9D4E6"/>
                </a:solidFill>
                <a:latin typeface="Arial"/>
              </a:rPr>
              <a:t> och AI-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stöd</a:t>
            </a:r>
            <a:r>
              <a:rPr sz="1320" b="0" i="0">
                <a:solidFill>
                  <a:srgbClr val="C9D4E6"/>
                </a:solidFill>
                <a:latin typeface="Arial"/>
              </a:rPr>
              <a:t> 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i</a:t>
            </a:r>
            <a:r>
              <a:rPr sz="1320" b="0" i="0">
                <a:solidFill>
                  <a:srgbClr val="C9D4E6"/>
                </a:solidFill>
                <a:latin typeface="Arial"/>
              </a:rPr>
              <a:t> 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ett</a:t>
            </a:r>
            <a:r>
              <a:rPr sz="1320" b="0" i="0">
                <a:solidFill>
                  <a:srgbClr val="C9D4E6"/>
                </a:solidFill>
                <a:latin typeface="Arial"/>
              </a:rPr>
              <a:t> 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sammanhängande</a:t>
            </a:r>
            <a:r>
              <a:rPr sz="1320" b="0" i="0">
                <a:solidFill>
                  <a:srgbClr val="C9D4E6"/>
                </a:solidFill>
                <a:latin typeface="Arial"/>
              </a:rPr>
              <a:t> 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operativt</a:t>
            </a:r>
            <a:r>
              <a:rPr sz="1320" b="0" i="0">
                <a:solidFill>
                  <a:srgbClr val="C9D4E6"/>
                </a:solidFill>
                <a:latin typeface="Arial"/>
              </a:rPr>
              <a:t> </a:t>
            </a:r>
            <a:r>
              <a:rPr lang="vi-VN" sz="1320" b="0" i="0">
                <a:solidFill>
                  <a:srgbClr val="C9D4E6"/>
                </a:solidFill>
                <a:latin typeface="Arial"/>
              </a:rPr>
              <a:t>läge</a:t>
            </a:r>
            <a:r>
              <a:rPr sz="1320" b="0" i="0">
                <a:solidFill>
                  <a:srgbClr val="C9D4E6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929" y="3198819"/>
            <a:ext cx="56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7AB3A"/>
                </a:solidFill>
                <a:latin typeface="Arial"/>
              </a:rPr>
              <a:t>LIVE-DEMO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929" y="5475032"/>
            <a:ext cx="580000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https://j-henriksson.github.io/smart-airbase-system/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5750" y="1524449"/>
            <a:ext cx="4200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err="1">
                <a:solidFill>
                  <a:srgbClr val="D7AB3A"/>
                </a:solidFill>
                <a:latin typeface="Arial"/>
                <a:cs typeface="Arial"/>
              </a:rPr>
              <a:t>Sammanfattning</a:t>
            </a:r>
            <a:endParaRPr lang="en-US" b="1">
              <a:solidFill>
                <a:srgbClr val="D7AB3A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95750" y="1905937"/>
            <a:ext cx="4508850" cy="3496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b="1" err="1">
                <a:solidFill>
                  <a:srgbClr val="E6ECF6"/>
                </a:solidFill>
                <a:latin typeface="Arial"/>
              </a:rPr>
              <a:t>Bygger</a:t>
            </a:r>
            <a:r>
              <a:rPr lang="en-GB" b="1">
                <a:solidFill>
                  <a:srgbClr val="E6ECF6"/>
                </a:solidFill>
                <a:latin typeface="Arial"/>
              </a:rPr>
              <a:t> </a:t>
            </a:r>
            <a:r>
              <a:rPr lang="en-GB" b="1" err="1">
                <a:solidFill>
                  <a:srgbClr val="E6ECF6"/>
                </a:solidFill>
                <a:latin typeface="Arial"/>
              </a:rPr>
              <a:t>på</a:t>
            </a:r>
            <a:r>
              <a:rPr lang="en-GB" b="1">
                <a:solidFill>
                  <a:srgbClr val="E6ECF6"/>
                </a:solidFill>
                <a:latin typeface="Arial"/>
              </a:rPr>
              <a:t> Saabs </a:t>
            </a:r>
            <a:r>
              <a:rPr lang="en-GB" b="1" err="1">
                <a:solidFill>
                  <a:srgbClr val="E6ECF6"/>
                </a:solidFill>
                <a:latin typeface="Arial"/>
              </a:rPr>
              <a:t>brädspel</a:t>
            </a:r>
            <a:endParaRPr lang="en-GB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GB" sz="1600" err="1">
                <a:solidFill>
                  <a:srgbClr val="E6ECF6"/>
                </a:solidFill>
                <a:latin typeface="Arial"/>
              </a:rPr>
              <a:t>Flygbasbrädspelets</a:t>
            </a:r>
            <a:r>
              <a:rPr lang="en-GB" sz="1600">
                <a:solidFill>
                  <a:srgbClr val="E6ECF6"/>
                </a:solidFill>
                <a:latin typeface="Arial"/>
              </a:rPr>
              <a:t> </a:t>
            </a:r>
            <a:r>
              <a:rPr lang="en-GB" sz="1600" b="0" err="1">
                <a:solidFill>
                  <a:srgbClr val="E6ECF6"/>
                </a:solidFill>
                <a:latin typeface="Arial"/>
              </a:rPr>
              <a:t>faser</a:t>
            </a:r>
            <a:r>
              <a:rPr lang="en-GB" sz="1600" b="0">
                <a:solidFill>
                  <a:srgbClr val="E6ECF6"/>
                </a:solidFill>
                <a:latin typeface="Arial"/>
              </a:rPr>
              <a:t>, baser, ATO-</a:t>
            </a:r>
            <a:r>
              <a:rPr lang="en-GB" sz="1600" b="0" err="1">
                <a:solidFill>
                  <a:srgbClr val="E6ECF6"/>
                </a:solidFill>
                <a:latin typeface="Arial"/>
              </a:rPr>
              <a:t>flöde</a:t>
            </a:r>
            <a:r>
              <a:rPr lang="en-GB" sz="1600" b="0">
                <a:solidFill>
                  <a:srgbClr val="E6ECF6"/>
                </a:solidFill>
                <a:latin typeface="Arial"/>
              </a:rPr>
              <a:t> och </a:t>
            </a:r>
            <a:r>
              <a:rPr lang="en-GB" sz="1600" err="1">
                <a:solidFill>
                  <a:srgbClr val="E6ECF6"/>
                </a:solidFill>
                <a:latin typeface="Arial"/>
              </a:rPr>
              <a:t>tärningstabeller</a:t>
            </a:r>
            <a:r>
              <a:rPr lang="en-GB" sz="1600">
                <a:solidFill>
                  <a:srgbClr val="E6ECF6"/>
                </a:solidFill>
                <a:latin typeface="Arial"/>
              </a:rPr>
              <a:t>, </a:t>
            </a:r>
            <a:r>
              <a:rPr lang="en-GB" sz="1600" err="1">
                <a:solidFill>
                  <a:srgbClr val="E6ECF6"/>
                </a:solidFill>
                <a:latin typeface="Arial"/>
              </a:rPr>
              <a:t>digitaliserade</a:t>
            </a:r>
            <a:r>
              <a:rPr lang="en-GB" sz="1600">
                <a:solidFill>
                  <a:srgbClr val="E6ECF6"/>
                </a:solidFill>
                <a:latin typeface="Arial"/>
              </a:rPr>
              <a:t>.</a:t>
            </a:r>
            <a:endParaRPr lang="en-GB" sz="1600">
              <a:ea typeface="Calibri"/>
              <a:cs typeface="Calibri"/>
            </a:endParaRPr>
          </a:p>
          <a:p>
            <a:endParaRPr lang="en-GB" sz="1600">
              <a:solidFill>
                <a:srgbClr val="E6ECF6"/>
              </a:solidFill>
              <a:latin typeface="Arial"/>
            </a:endParaRPr>
          </a:p>
          <a:p>
            <a:r>
              <a:rPr lang="en-GB" b="1" err="1">
                <a:solidFill>
                  <a:srgbClr val="E6ECF6"/>
                </a:solidFill>
                <a:latin typeface="Arial"/>
              </a:rPr>
              <a:t>Spelbar</a:t>
            </a:r>
            <a:r>
              <a:rPr lang="en-GB" b="1">
                <a:solidFill>
                  <a:srgbClr val="E6ECF6"/>
                </a:solidFill>
                <a:latin typeface="Arial"/>
              </a:rPr>
              <a:t> </a:t>
            </a:r>
            <a:r>
              <a:rPr lang="en-GB" b="1" err="1">
                <a:solidFill>
                  <a:srgbClr val="E6ECF6"/>
                </a:solidFill>
                <a:latin typeface="Arial"/>
              </a:rPr>
              <a:t>simulering</a:t>
            </a:r>
            <a:endParaRPr lang="en-GB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GB" sz="1600">
                <a:solidFill>
                  <a:srgbClr val="E6ECF6"/>
                </a:solidFill>
                <a:latin typeface="Arial"/>
              </a:rPr>
              <a:t>Inte </a:t>
            </a:r>
            <a:r>
              <a:rPr lang="en-GB" sz="1600" err="1">
                <a:solidFill>
                  <a:srgbClr val="E6ECF6"/>
                </a:solidFill>
                <a:latin typeface="Arial"/>
              </a:rPr>
              <a:t>en</a:t>
            </a:r>
            <a:r>
              <a:rPr lang="en-GB" sz="1600">
                <a:solidFill>
                  <a:srgbClr val="E6ECF6"/>
                </a:solidFill>
                <a:latin typeface="Arial"/>
              </a:rPr>
              <a:t> </a:t>
            </a:r>
            <a:r>
              <a:rPr lang="en-GB" sz="1600" err="1">
                <a:solidFill>
                  <a:srgbClr val="E6ECF6"/>
                </a:solidFill>
                <a:latin typeface="Arial"/>
              </a:rPr>
              <a:t>mockup</a:t>
            </a:r>
            <a:r>
              <a:rPr lang="en-GB" sz="1600">
                <a:solidFill>
                  <a:srgbClr val="E6ECF6"/>
                </a:solidFill>
                <a:latin typeface="Arial"/>
              </a:rPr>
              <a:t>; </a:t>
            </a:r>
            <a:r>
              <a:rPr lang="en-GB" sz="1600" err="1">
                <a:solidFill>
                  <a:srgbClr val="E6ECF6"/>
                </a:solidFill>
                <a:latin typeface="Arial"/>
              </a:rPr>
              <a:t>koden</a:t>
            </a:r>
            <a:r>
              <a:rPr lang="en-GB" sz="1600">
                <a:solidFill>
                  <a:srgbClr val="E6ECF6"/>
                </a:solidFill>
                <a:latin typeface="Arial"/>
              </a:rPr>
              <a:t> </a:t>
            </a:r>
            <a:r>
              <a:rPr lang="en-GB" sz="1600" err="1">
                <a:solidFill>
                  <a:srgbClr val="E6ECF6"/>
                </a:solidFill>
                <a:latin typeface="Arial"/>
              </a:rPr>
              <a:t>räknar</a:t>
            </a:r>
            <a:r>
              <a:rPr lang="en-GB" sz="1600">
                <a:solidFill>
                  <a:srgbClr val="E6ECF6"/>
                </a:solidFill>
                <a:latin typeface="Arial"/>
              </a:rPr>
              <a:t> </a:t>
            </a:r>
            <a:r>
              <a:rPr lang="en-GB" sz="1600" err="1">
                <a:solidFill>
                  <a:srgbClr val="E6ECF6"/>
                </a:solidFill>
                <a:latin typeface="Arial"/>
              </a:rPr>
              <a:t>fram</a:t>
            </a:r>
            <a:r>
              <a:rPr lang="en-GB" sz="1600">
                <a:solidFill>
                  <a:srgbClr val="E6ECF6"/>
                </a:solidFill>
                <a:latin typeface="Arial"/>
              </a:rPr>
              <a:t> </a:t>
            </a:r>
            <a:r>
              <a:rPr lang="en-GB" sz="1600" err="1">
                <a:solidFill>
                  <a:srgbClr val="E6ECF6"/>
                </a:solidFill>
                <a:latin typeface="Arial"/>
              </a:rPr>
              <a:t>lägesbilden</a:t>
            </a:r>
            <a:r>
              <a:rPr lang="en-GB" sz="1600">
                <a:solidFill>
                  <a:srgbClr val="E6ECF6"/>
                </a:solidFill>
                <a:latin typeface="Arial"/>
              </a:rPr>
              <a:t> </a:t>
            </a:r>
            <a:r>
              <a:rPr lang="en-GB" sz="1600" err="1">
                <a:solidFill>
                  <a:srgbClr val="E6ECF6"/>
                </a:solidFill>
                <a:latin typeface="Arial"/>
              </a:rPr>
              <a:t>dygn</a:t>
            </a:r>
            <a:r>
              <a:rPr lang="en-GB" sz="1600">
                <a:solidFill>
                  <a:srgbClr val="E6ECF6"/>
                </a:solidFill>
                <a:latin typeface="Arial"/>
              </a:rPr>
              <a:t> för </a:t>
            </a:r>
            <a:r>
              <a:rPr lang="en-GB" sz="1600" err="1">
                <a:solidFill>
                  <a:srgbClr val="E6ECF6"/>
                </a:solidFill>
                <a:latin typeface="Arial"/>
              </a:rPr>
              <a:t>dygn</a:t>
            </a:r>
            <a:r>
              <a:rPr lang="en-GB" sz="1600" b="0">
                <a:solidFill>
                  <a:srgbClr val="E6ECF6"/>
                </a:solidFill>
                <a:latin typeface="Arial"/>
              </a:rPr>
              <a:t>.</a:t>
            </a:r>
            <a:endParaRPr lang="en-GB" sz="1600">
              <a:ea typeface="Calibri"/>
              <a:cs typeface="Calibri"/>
            </a:endParaRPr>
          </a:p>
          <a:p>
            <a:endParaRPr lang="en-GB" sz="1600">
              <a:solidFill>
                <a:srgbClr val="E6ECF6"/>
              </a:solidFill>
              <a:latin typeface="Arial"/>
            </a:endParaRPr>
          </a:p>
          <a:p>
            <a:r>
              <a:rPr lang="en-GB" b="1" err="1">
                <a:solidFill>
                  <a:srgbClr val="E6ECF6"/>
                </a:solidFill>
                <a:latin typeface="Arial"/>
              </a:rPr>
              <a:t>Körs</a:t>
            </a:r>
            <a:r>
              <a:rPr lang="en-GB" b="1">
                <a:solidFill>
                  <a:srgbClr val="E6ECF6"/>
                </a:solidFill>
                <a:latin typeface="Arial"/>
              </a:rPr>
              <a:t> </a:t>
            </a:r>
            <a:r>
              <a:rPr lang="en-GB" b="1" err="1">
                <a:solidFill>
                  <a:srgbClr val="E6ECF6"/>
                </a:solidFill>
                <a:latin typeface="Arial"/>
              </a:rPr>
              <a:t>i</a:t>
            </a:r>
            <a:r>
              <a:rPr lang="en-GB" b="1">
                <a:solidFill>
                  <a:srgbClr val="E6ECF6"/>
                </a:solidFill>
                <a:latin typeface="Arial"/>
              </a:rPr>
              <a:t> </a:t>
            </a:r>
            <a:r>
              <a:rPr lang="en-GB" b="1" err="1">
                <a:solidFill>
                  <a:srgbClr val="E6ECF6"/>
                </a:solidFill>
                <a:latin typeface="Arial"/>
              </a:rPr>
              <a:t>webbläsaren</a:t>
            </a:r>
            <a:r>
              <a:rPr lang="en-GB">
                <a:solidFill>
                  <a:srgbClr val="E6ECF6"/>
                </a:solidFill>
                <a:latin typeface="Arial"/>
              </a:rPr>
              <a:t> </a:t>
            </a:r>
            <a:endParaRPr lang="en-GB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GB" sz="1600">
                <a:solidFill>
                  <a:srgbClr val="E6ECF6"/>
                </a:solidFill>
                <a:latin typeface="Arial"/>
              </a:rPr>
              <a:t>Ingen</a:t>
            </a:r>
            <a:r>
              <a:rPr lang="en-GB" sz="1600" b="0">
                <a:solidFill>
                  <a:srgbClr val="E6ECF6"/>
                </a:solidFill>
                <a:latin typeface="Arial"/>
              </a:rPr>
              <a:t> backend </a:t>
            </a:r>
            <a:r>
              <a:rPr lang="en-GB" sz="1600">
                <a:solidFill>
                  <a:srgbClr val="E6ECF6"/>
                </a:solidFill>
                <a:latin typeface="Arial"/>
              </a:rPr>
              <a:t>och </a:t>
            </a:r>
            <a:r>
              <a:rPr lang="en-GB" sz="1600" err="1">
                <a:solidFill>
                  <a:srgbClr val="E6ECF6"/>
                </a:solidFill>
                <a:latin typeface="Arial"/>
              </a:rPr>
              <a:t>inget</a:t>
            </a:r>
            <a:r>
              <a:rPr lang="en-GB" sz="1600">
                <a:solidFill>
                  <a:srgbClr val="E6ECF6"/>
                </a:solidFill>
                <a:latin typeface="Arial"/>
              </a:rPr>
              <a:t> </a:t>
            </a:r>
            <a:r>
              <a:rPr lang="en-GB" sz="1600" err="1">
                <a:solidFill>
                  <a:srgbClr val="E6ECF6"/>
                </a:solidFill>
                <a:latin typeface="Arial"/>
              </a:rPr>
              <a:t>att</a:t>
            </a:r>
            <a:r>
              <a:rPr lang="en-GB" sz="1600">
                <a:solidFill>
                  <a:srgbClr val="E6ECF6"/>
                </a:solidFill>
                <a:latin typeface="Arial"/>
              </a:rPr>
              <a:t> </a:t>
            </a:r>
            <a:r>
              <a:rPr lang="en-GB" sz="1600" err="1">
                <a:solidFill>
                  <a:srgbClr val="E6ECF6"/>
                </a:solidFill>
                <a:latin typeface="Arial"/>
              </a:rPr>
              <a:t>installera</a:t>
            </a:r>
            <a:r>
              <a:rPr lang="en-GB" sz="1600" b="0">
                <a:solidFill>
                  <a:srgbClr val="E6ECF6"/>
                </a:solidFill>
                <a:latin typeface="Arial"/>
              </a:rPr>
              <a:t>.</a:t>
            </a:r>
            <a:endParaRPr lang="en-GB" sz="1600">
              <a:ea typeface="Calibri"/>
              <a:cs typeface="Calibri"/>
            </a:endParaRPr>
          </a:p>
          <a:p>
            <a:endParaRPr lang="en-GB" sz="1600">
              <a:solidFill>
                <a:srgbClr val="E6ECF6"/>
              </a:solidFill>
              <a:latin typeface="Arial"/>
            </a:endParaRPr>
          </a:p>
          <a:p>
            <a:r>
              <a:rPr lang="en-GB" b="1" err="1">
                <a:solidFill>
                  <a:srgbClr val="E6ECF6"/>
                </a:solidFill>
                <a:latin typeface="Arial"/>
              </a:rPr>
              <a:t>Byggd</a:t>
            </a:r>
            <a:r>
              <a:rPr lang="en-GB" b="1">
                <a:solidFill>
                  <a:srgbClr val="E6ECF6"/>
                </a:solidFill>
                <a:latin typeface="Arial"/>
              </a:rPr>
              <a:t> </a:t>
            </a:r>
            <a:r>
              <a:rPr lang="en-GB" b="1" err="1">
                <a:solidFill>
                  <a:srgbClr val="E6ECF6"/>
                </a:solidFill>
                <a:latin typeface="Arial"/>
              </a:rPr>
              <a:t>att</a:t>
            </a:r>
            <a:r>
              <a:rPr lang="en-GB" b="1">
                <a:solidFill>
                  <a:srgbClr val="E6ECF6"/>
                </a:solidFill>
                <a:latin typeface="Arial"/>
              </a:rPr>
              <a:t> </a:t>
            </a:r>
            <a:r>
              <a:rPr lang="en-GB" b="1" err="1">
                <a:solidFill>
                  <a:srgbClr val="E6ECF6"/>
                </a:solidFill>
                <a:latin typeface="Arial"/>
              </a:rPr>
              <a:t>utöka</a:t>
            </a:r>
            <a:endParaRPr lang="en-GB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GB" sz="1600">
                <a:solidFill>
                  <a:srgbClr val="E6ECF6"/>
                </a:solidFill>
                <a:latin typeface="Arial"/>
              </a:rPr>
              <a:t>Nya </a:t>
            </a:r>
            <a:r>
              <a:rPr lang="en-GB" sz="1600" err="1">
                <a:solidFill>
                  <a:srgbClr val="E6ECF6"/>
                </a:solidFill>
                <a:latin typeface="Arial"/>
              </a:rPr>
              <a:t>scenarier</a:t>
            </a:r>
            <a:r>
              <a:rPr lang="en-GB" sz="1600">
                <a:solidFill>
                  <a:srgbClr val="E6ECF6"/>
                </a:solidFill>
                <a:latin typeface="Arial"/>
              </a:rPr>
              <a:t> och </a:t>
            </a:r>
            <a:r>
              <a:rPr lang="en-GB" sz="1600" b="0" err="1">
                <a:solidFill>
                  <a:srgbClr val="E6ECF6"/>
                </a:solidFill>
                <a:latin typeface="Arial"/>
              </a:rPr>
              <a:t>mekanik</a:t>
            </a:r>
            <a:r>
              <a:rPr lang="en-GB" sz="1600" b="0">
                <a:solidFill>
                  <a:srgbClr val="E6ECF6"/>
                </a:solidFill>
                <a:latin typeface="Arial"/>
              </a:rPr>
              <a:t> </a:t>
            </a:r>
            <a:r>
              <a:rPr lang="en-GB" sz="1600" err="1">
                <a:solidFill>
                  <a:srgbClr val="E6ECF6"/>
                </a:solidFill>
                <a:latin typeface="Arial"/>
              </a:rPr>
              <a:t>läggs</a:t>
            </a:r>
            <a:r>
              <a:rPr lang="en-GB" sz="1600">
                <a:solidFill>
                  <a:srgbClr val="E6ECF6"/>
                </a:solidFill>
                <a:latin typeface="Arial"/>
              </a:rPr>
              <a:t> till via config</a:t>
            </a:r>
            <a:r>
              <a:rPr lang="en-GB" sz="1600" b="0">
                <a:solidFill>
                  <a:srgbClr val="E6ECF6"/>
                </a:solidFill>
                <a:latin typeface="Arial"/>
              </a:rPr>
              <a:t>.</a:t>
            </a:r>
            <a:endParaRPr lang="en-GB" sz="1600">
              <a:ea typeface="Calibri"/>
              <a:cs typeface="Calibri"/>
            </a:endParaRP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endParaRPr lang="en-GB" sz="1150" b="1">
              <a:solidFill>
                <a:srgbClr val="D7AB3A"/>
              </a:solidFill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661711-D1AC-5582-0E25-B8F6FFBE78BE}"/>
              </a:ext>
            </a:extLst>
          </p:cNvPr>
          <p:cNvSpPr txBox="1"/>
          <p:nvPr/>
        </p:nvSpPr>
        <p:spPr>
          <a:xfrm>
            <a:off x="344581" y="1064357"/>
            <a:ext cx="6130924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sv-SE" b="1">
                <a:solidFill>
                  <a:srgbClr val="D7AB3A"/>
                </a:solidFill>
                <a:latin typeface="Arial"/>
              </a:rPr>
              <a:t>TEKNISK PRE-READ</a:t>
            </a:r>
            <a:endParaRPr lang="en-US">
              <a:ea typeface="Calibri"/>
              <a:cs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sv-SE" sz="1800" b="0" i="0">
              <a:solidFill>
                <a:srgbClr val="D7AB3A"/>
              </a:solidFill>
              <a:latin typeface="Arial"/>
              <a:cs typeface="Arial"/>
            </a:endParaRPr>
          </a:p>
        </p:txBody>
      </p:sp>
      <p:pic>
        <p:nvPicPr>
          <p:cNvPr id="2" name="Picture 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A70AB3A6-BB9A-DCAA-C68E-9FCD1272B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70" y="3433703"/>
            <a:ext cx="1919112" cy="18814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6C1B39A-9A1A-0F9E-9916-3589FEE67AE4}"/>
              </a:ext>
            </a:extLst>
          </p:cNvPr>
          <p:cNvSpPr/>
          <p:nvPr/>
        </p:nvSpPr>
        <p:spPr>
          <a:xfrm>
            <a:off x="582371" y="5230828"/>
            <a:ext cx="5000000" cy="790000"/>
          </a:xfrm>
          <a:prstGeom prst="rect">
            <a:avLst/>
          </a:prstGeom>
          <a:solidFill>
            <a:srgbClr val="15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00" y="360000"/>
            <a:ext cx="9200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D7AB3A"/>
                </a:solidFill>
                <a:latin typeface="Arial"/>
              </a:rPr>
              <a:t>0</a:t>
            </a:r>
            <a:r>
              <a:rPr lang="en-GB" sz="3000" b="1" i="0">
                <a:solidFill>
                  <a:srgbClr val="D7AB3A"/>
                </a:solidFill>
                <a:latin typeface="Arial"/>
              </a:rPr>
              <a:t>1</a:t>
            </a:r>
            <a:r>
              <a:rPr sz="3000" b="1" i="0">
                <a:solidFill>
                  <a:srgbClr val="D7AB3A"/>
                </a:solidFill>
                <a:latin typeface="Arial"/>
              </a:rPr>
              <a:t>  </a:t>
            </a:r>
            <a:r>
              <a:rPr sz="3000" b="1" i="0" err="1">
                <a:solidFill>
                  <a:srgbClr val="0C234C"/>
                </a:solidFill>
                <a:latin typeface="Arial"/>
              </a:rPr>
              <a:t>Arkitektur</a:t>
            </a:r>
            <a:r>
              <a:rPr sz="3000" b="1" i="0">
                <a:solidFill>
                  <a:srgbClr val="0C234C"/>
                </a:solidFill>
                <a:latin typeface="Arial"/>
              </a:rPr>
              <a:t> &amp; </a:t>
            </a:r>
            <a:r>
              <a:rPr sz="3000" b="1" i="0" err="1">
                <a:solidFill>
                  <a:srgbClr val="0C234C"/>
                </a:solidFill>
                <a:latin typeface="Arial"/>
              </a:rPr>
              <a:t>dataflöde</a:t>
            </a:r>
            <a:endParaRPr sz="3000" b="1" i="0">
              <a:solidFill>
                <a:srgbClr val="0C234C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00" y="880000"/>
            <a:ext cx="105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4A5B78"/>
                </a:solidFill>
                <a:latin typeface="Arial"/>
              </a:rPr>
              <a:t>En riktad kedja från användarbeslut till validerad tillståndsförändring.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1778" y="1595950"/>
            <a:ext cx="5000000" cy="790000"/>
          </a:xfrm>
          <a:prstGeom prst="rect">
            <a:avLst/>
          </a:prstGeom>
          <a:solidFill>
            <a:srgbClr val="1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0000" y="1725000"/>
            <a:ext cx="445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000" y="2000000"/>
            <a:ext cx="445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C9D4E6"/>
                </a:solidFill>
                <a:latin typeface="Arial"/>
              </a:rPr>
              <a:t>Pages + komponenter: dashboard, ATO, karta, flygplan, AAR</a:t>
            </a:r>
          </a:p>
        </p:txBody>
      </p:sp>
      <p:sp>
        <p:nvSpPr>
          <p:cNvPr id="9" name="Down Arrow 8"/>
          <p:cNvSpPr/>
          <p:nvPr/>
        </p:nvSpPr>
        <p:spPr>
          <a:xfrm>
            <a:off x="2902371" y="2461111"/>
            <a:ext cx="360000" cy="265000"/>
          </a:xfrm>
          <a:prstGeom prst="downArrow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1778" y="2802815"/>
            <a:ext cx="5000000" cy="790000"/>
          </a:xfrm>
          <a:prstGeom prst="rect">
            <a:avLst/>
          </a:prstGeom>
          <a:solidFill>
            <a:srgbClr val="15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1778" y="2927815"/>
            <a:ext cx="445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State-brygga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778" y="3202815"/>
            <a:ext cx="445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C9D4E6"/>
                </a:solidFill>
                <a:latin typeface="Arial"/>
              </a:rPr>
              <a:t>GameProvider + useGameEngine exponerar state och kommandon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902371" y="3645112"/>
            <a:ext cx="360000" cy="265000"/>
          </a:xfrm>
          <a:prstGeom prst="downArrow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2371" y="3958593"/>
            <a:ext cx="5000000" cy="790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2371" y="4083593"/>
            <a:ext cx="445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C234C"/>
                </a:solidFill>
                <a:latin typeface="Arial"/>
              </a:rPr>
              <a:t>Ren spelmotor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71" y="4358593"/>
            <a:ext cx="4450000" cy="164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 err="1">
                <a:latin typeface="Arial"/>
              </a:rPr>
              <a:t>gameReducer</a:t>
            </a:r>
            <a:r>
              <a:rPr sz="1070" b="0" i="0">
                <a:latin typeface="Arial"/>
              </a:rPr>
              <a:t>(state, action) </a:t>
            </a:r>
            <a:r>
              <a:rPr sz="1070" b="0" i="0" err="1">
                <a:latin typeface="Arial"/>
              </a:rPr>
              <a:t>validerar</a:t>
            </a:r>
            <a:r>
              <a:rPr sz="1070" b="0" i="0">
                <a:latin typeface="Arial"/>
              </a:rPr>
              <a:t> och </a:t>
            </a:r>
            <a:r>
              <a:rPr sz="1070" b="0" i="0" err="1">
                <a:latin typeface="Arial"/>
              </a:rPr>
              <a:t>returnerar</a:t>
            </a:r>
            <a:r>
              <a:rPr sz="1070" b="0" i="0">
                <a:latin typeface="Arial"/>
              </a:rPr>
              <a:t> </a:t>
            </a:r>
            <a:r>
              <a:rPr sz="1070" b="0" i="0" err="1">
                <a:latin typeface="Arial"/>
              </a:rPr>
              <a:t>nytt</a:t>
            </a:r>
            <a:r>
              <a:rPr sz="1070" b="0" i="0">
                <a:latin typeface="Arial"/>
              </a:rPr>
              <a:t> </a:t>
            </a:r>
            <a:r>
              <a:rPr sz="1070" b="0" i="0" err="1">
                <a:latin typeface="Arial"/>
              </a:rPr>
              <a:t>GameState</a:t>
            </a:r>
            <a:endParaRPr sz="1070" b="0" i="0">
              <a:latin typeface="Arial"/>
            </a:endParaRPr>
          </a:p>
        </p:txBody>
      </p:sp>
      <p:sp>
        <p:nvSpPr>
          <p:cNvPr id="17" name="Down Arrow 16"/>
          <p:cNvSpPr/>
          <p:nvPr/>
        </p:nvSpPr>
        <p:spPr>
          <a:xfrm>
            <a:off x="2902371" y="4857333"/>
            <a:ext cx="360000" cy="265000"/>
          </a:xfrm>
          <a:prstGeom prst="downArrow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1778" y="5333444"/>
            <a:ext cx="44500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chemeClr val="bg1"/>
                </a:solidFill>
                <a:latin typeface="Arial"/>
              </a:rPr>
              <a:t>Config &amp; typer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778" y="5608444"/>
            <a:ext cx="4450000" cy="329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chemeClr val="bg1"/>
                </a:solidFill>
                <a:latin typeface="Arial"/>
              </a:rPr>
              <a:t>types/</a:t>
            </a:r>
            <a:r>
              <a:rPr lang="vi-VN" sz="1070" b="0" i="0">
                <a:solidFill>
                  <a:schemeClr val="bg1"/>
                </a:solidFill>
                <a:latin typeface="Arial"/>
              </a:rPr>
              <a:t>game.ts</a:t>
            </a:r>
            <a:r>
              <a:rPr sz="1070" b="0" i="0">
                <a:solidFill>
                  <a:schemeClr val="bg1"/>
                </a:solidFill>
                <a:latin typeface="Arial"/>
              </a:rPr>
              <a:t> + </a:t>
            </a:r>
            <a:r>
              <a:rPr lang="vi-VN" sz="1070" b="0" i="0">
                <a:solidFill>
                  <a:schemeClr val="bg1"/>
                </a:solidFill>
                <a:latin typeface="Arial"/>
              </a:rPr>
              <a:t>src</a:t>
            </a:r>
            <a:r>
              <a:rPr sz="1070" b="0" i="0">
                <a:solidFill>
                  <a:schemeClr val="bg1"/>
                </a:solidFill>
                <a:latin typeface="Arial"/>
              </a:rPr>
              <a:t>/data/config </a:t>
            </a:r>
            <a:r>
              <a:rPr lang="vi-VN" sz="1070" b="0" i="0">
                <a:solidFill>
                  <a:schemeClr val="bg1"/>
                </a:solidFill>
                <a:latin typeface="Arial"/>
              </a:rPr>
              <a:t>styr</a:t>
            </a:r>
            <a:r>
              <a:rPr sz="1070" b="0" i="0">
                <a:solidFill>
                  <a:schemeClr val="bg1"/>
                </a:solidFill>
                <a:latin typeface="Arial"/>
              </a:rPr>
              <a:t> </a:t>
            </a:r>
            <a:r>
              <a:rPr lang="vi-VN" sz="1070" b="0" i="0">
                <a:solidFill>
                  <a:schemeClr val="bg1"/>
                </a:solidFill>
                <a:latin typeface="Arial"/>
              </a:rPr>
              <a:t>faser</a:t>
            </a:r>
            <a:r>
              <a:rPr sz="1070" b="0" i="0">
                <a:solidFill>
                  <a:schemeClr val="bg1"/>
                </a:solidFill>
                <a:latin typeface="Arial"/>
              </a:rPr>
              <a:t>, </a:t>
            </a:r>
            <a:r>
              <a:rPr lang="vi-VN" sz="1070" b="0" i="0">
                <a:solidFill>
                  <a:schemeClr val="bg1"/>
                </a:solidFill>
                <a:latin typeface="Arial"/>
              </a:rPr>
              <a:t>sannolikheter</a:t>
            </a:r>
            <a:r>
              <a:rPr sz="1070" b="0" i="0">
                <a:solidFill>
                  <a:schemeClr val="bg1"/>
                </a:solidFill>
                <a:latin typeface="Arial"/>
              </a:rPr>
              <a:t>, </a:t>
            </a:r>
            <a:r>
              <a:rPr lang="vi-VN" sz="1070" b="0" i="0">
                <a:solidFill>
                  <a:schemeClr val="bg1"/>
                </a:solidFill>
                <a:latin typeface="Arial"/>
              </a:rPr>
              <a:t>tider</a:t>
            </a:r>
            <a:r>
              <a:rPr sz="1070" b="0" i="0">
                <a:solidFill>
                  <a:schemeClr val="bg1"/>
                </a:solidFill>
                <a:latin typeface="Arial"/>
              </a:rPr>
              <a:t> och </a:t>
            </a:r>
            <a:r>
              <a:rPr lang="vi-VN" sz="1070" b="0" i="0">
                <a:solidFill>
                  <a:schemeClr val="bg1"/>
                </a:solidFill>
                <a:latin typeface="Arial"/>
              </a:rPr>
              <a:t>kapacitet</a:t>
            </a:r>
            <a:endParaRPr sz="1070" b="0" i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80000" y="1560000"/>
            <a:ext cx="520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192E"/>
                </a:solidFill>
                <a:latin typeface="Arial"/>
              </a:rPr>
              <a:t>RUNTIME-FLÖDE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0000" y="1960000"/>
            <a:ext cx="5280000" cy="1410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0C234C"/>
                </a:solidFill>
                <a:latin typeface="Arial"/>
              </a:rPr>
              <a:t>1. Klick, drag-drop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eller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formulär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skickar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ett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kommando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via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useGame</a:t>
            </a:r>
            <a:r>
              <a:rPr sz="1080" b="0" i="0">
                <a:solidFill>
                  <a:srgbClr val="0C234C"/>
                </a:solidFill>
                <a:latin typeface="Arial"/>
              </a:rPr>
              <a:t>().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0C234C"/>
                </a:solidFill>
                <a:latin typeface="Arial"/>
              </a:rPr>
              <a:t>2.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GameAction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dispatchas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till reducer och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kontrolleras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i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validateAction</a:t>
            </a:r>
            <a:r>
              <a:rPr sz="1080" b="0" i="0">
                <a:solidFill>
                  <a:srgbClr val="0C234C"/>
                </a:solidFill>
                <a:latin typeface="Arial"/>
              </a:rPr>
              <a:t>().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0C234C"/>
                </a:solidFill>
                <a:latin typeface="Arial"/>
              </a:rPr>
              <a:t>3.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Giltig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action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går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till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faslogik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eller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specifik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handler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i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src</a:t>
            </a:r>
            <a:r>
              <a:rPr sz="1080" b="0" i="0">
                <a:solidFill>
                  <a:srgbClr val="0C234C"/>
                </a:solidFill>
                <a:latin typeface="Arial"/>
              </a:rPr>
              <a:t>/core/.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0C234C"/>
                </a:solidFill>
                <a:latin typeface="Arial"/>
              </a:rPr>
              <a:t>4.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Nytt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GameState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skapas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immutabelt</a:t>
            </a:r>
            <a:r>
              <a:rPr sz="1080" b="0" i="0">
                <a:solidFill>
                  <a:srgbClr val="0C234C"/>
                </a:solidFill>
                <a:latin typeface="Arial"/>
              </a:rPr>
              <a:t>; events/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rekommendationer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uppdateras</a:t>
            </a:r>
            <a:r>
              <a:rPr sz="1080" b="0" i="0">
                <a:solidFill>
                  <a:srgbClr val="0C234C"/>
                </a:solidFill>
                <a:latin typeface="Arial"/>
              </a:rPr>
              <a:t>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0C234C"/>
                </a:solidFill>
                <a:latin typeface="Arial"/>
              </a:rPr>
              <a:t>5. React Context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propagerar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state; alla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vyer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renderar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samma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sanning</a:t>
            </a:r>
            <a:r>
              <a:rPr sz="1080" b="0" i="0">
                <a:solidFill>
                  <a:srgbClr val="0C234C"/>
                </a:solidFill>
                <a:latin typeface="Arial"/>
              </a:rPr>
              <a:t>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0C234C"/>
                </a:solidFill>
                <a:latin typeface="Arial"/>
              </a:rPr>
              <a:t>6.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Ogiltig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action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blockeras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och ger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varning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i</a:t>
            </a:r>
            <a:r>
              <a:rPr sz="1080" b="0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i="0" err="1">
                <a:solidFill>
                  <a:srgbClr val="0C234C"/>
                </a:solidFill>
                <a:latin typeface="Arial"/>
              </a:rPr>
              <a:t>händelseloggen</a:t>
            </a:r>
            <a:r>
              <a:rPr sz="1080" b="0" i="0">
                <a:solidFill>
                  <a:srgbClr val="0C234C"/>
                </a:solidFill>
                <a:latin typeface="Arial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0000" y="3950000"/>
            <a:ext cx="520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192E"/>
                </a:solidFill>
                <a:latin typeface="Arial"/>
              </a:rPr>
              <a:t>DESIGNVAL SOM BÄR SYSTEMET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0000" y="4330000"/>
            <a:ext cx="5270000" cy="10400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80" b="1">
                <a:solidFill>
                  <a:srgbClr val="D7AB3A"/>
                </a:solidFill>
                <a:latin typeface="Arial"/>
              </a:rPr>
              <a:t>▪  </a:t>
            </a:r>
            <a:r>
              <a:rPr sz="1080" b="1">
                <a:solidFill>
                  <a:srgbClr val="0C234C"/>
                </a:solidFill>
                <a:latin typeface="Arial"/>
              </a:rPr>
              <a:t>Single source of truth</a:t>
            </a:r>
            <a:r>
              <a:rPr sz="1080" b="0">
                <a:solidFill>
                  <a:srgbClr val="0C234C"/>
                </a:solidFill>
                <a:latin typeface="Arial"/>
              </a:rPr>
              <a:t>: </a:t>
            </a:r>
            <a:r>
              <a:rPr lang="en-GB" sz="1080" b="0" err="1">
                <a:solidFill>
                  <a:srgbClr val="0C234C"/>
                </a:solidFill>
                <a:latin typeface="Arial"/>
              </a:rPr>
              <a:t>GameState</a:t>
            </a:r>
            <a:r>
              <a:rPr sz="1080" b="0">
                <a:solidFill>
                  <a:srgbClr val="0C234C"/>
                </a:solidFill>
                <a:latin typeface="Arial"/>
              </a:rPr>
              <a:t> och </a:t>
            </a:r>
            <a:r>
              <a:rPr lang="en-GB" sz="1080" b="0" err="1">
                <a:solidFill>
                  <a:srgbClr val="0C234C"/>
                </a:solidFill>
                <a:latin typeface="Arial"/>
              </a:rPr>
              <a:t>GameAction</a:t>
            </a:r>
            <a:r>
              <a:rPr sz="1080" b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err="1">
                <a:solidFill>
                  <a:srgbClr val="0C234C"/>
                </a:solidFill>
                <a:latin typeface="Arial"/>
              </a:rPr>
              <a:t>definieras</a:t>
            </a:r>
            <a:r>
              <a:rPr sz="1080" b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err="1">
                <a:solidFill>
                  <a:srgbClr val="0C234C"/>
                </a:solidFill>
                <a:latin typeface="Arial"/>
              </a:rPr>
              <a:t>i</a:t>
            </a:r>
            <a:r>
              <a:rPr sz="1080" b="0">
                <a:solidFill>
                  <a:srgbClr val="0C234C"/>
                </a:solidFill>
                <a:latin typeface="Arial"/>
              </a:rPr>
              <a:t> types/</a:t>
            </a:r>
            <a:r>
              <a:rPr lang="en-GB" sz="1080" b="0" err="1">
                <a:solidFill>
                  <a:srgbClr val="0C234C"/>
                </a:solidFill>
                <a:latin typeface="Arial"/>
              </a:rPr>
              <a:t>game.ts</a:t>
            </a:r>
            <a:r>
              <a:rPr sz="1080" b="0">
                <a:solidFill>
                  <a:srgbClr val="0C234C"/>
                </a:solidFill>
                <a:latin typeface="Arial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80" b="1">
                <a:solidFill>
                  <a:srgbClr val="D7AB3A"/>
                </a:solidFill>
                <a:latin typeface="Arial"/>
              </a:rPr>
              <a:t>▪  </a:t>
            </a:r>
            <a:r>
              <a:rPr sz="1080" b="1">
                <a:solidFill>
                  <a:srgbClr val="0C234C"/>
                </a:solidFill>
                <a:latin typeface="Arial"/>
              </a:rPr>
              <a:t>Lätt </a:t>
            </a:r>
            <a:r>
              <a:rPr lang="en-GB" sz="1080" b="1" err="1">
                <a:solidFill>
                  <a:srgbClr val="0C234C"/>
                </a:solidFill>
                <a:latin typeface="Arial"/>
              </a:rPr>
              <a:t>att</a:t>
            </a:r>
            <a:r>
              <a:rPr sz="1080" b="1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1" err="1">
                <a:solidFill>
                  <a:srgbClr val="0C234C"/>
                </a:solidFill>
                <a:latin typeface="Arial"/>
              </a:rPr>
              <a:t>testa</a:t>
            </a:r>
            <a:r>
              <a:rPr sz="1080" b="0">
                <a:solidFill>
                  <a:srgbClr val="0C234C"/>
                </a:solidFill>
                <a:latin typeface="Arial"/>
              </a:rPr>
              <a:t>: core-</a:t>
            </a:r>
            <a:r>
              <a:rPr lang="en-GB" sz="1080" b="0" err="1">
                <a:solidFill>
                  <a:srgbClr val="0C234C"/>
                </a:solidFill>
                <a:latin typeface="Arial"/>
              </a:rPr>
              <a:t>moduler</a:t>
            </a:r>
            <a:r>
              <a:rPr sz="1080" b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err="1">
                <a:solidFill>
                  <a:srgbClr val="0C234C"/>
                </a:solidFill>
                <a:latin typeface="Arial"/>
              </a:rPr>
              <a:t>saknar</a:t>
            </a:r>
            <a:r>
              <a:rPr sz="1080" b="0">
                <a:solidFill>
                  <a:srgbClr val="0C234C"/>
                </a:solidFill>
                <a:latin typeface="Arial"/>
              </a:rPr>
              <a:t> React-</a:t>
            </a:r>
            <a:r>
              <a:rPr lang="en-GB" sz="1080" b="0" err="1">
                <a:solidFill>
                  <a:srgbClr val="0C234C"/>
                </a:solidFill>
                <a:latin typeface="Arial"/>
              </a:rPr>
              <a:t>beroenden</a:t>
            </a:r>
            <a:r>
              <a:rPr sz="1080" b="0">
                <a:solidFill>
                  <a:srgbClr val="0C234C"/>
                </a:solidFill>
                <a:latin typeface="Arial"/>
              </a:rPr>
              <a:t> och </a:t>
            </a:r>
            <a:r>
              <a:rPr lang="en-GB" sz="1080" b="0" err="1">
                <a:solidFill>
                  <a:srgbClr val="0C234C"/>
                </a:solidFill>
                <a:latin typeface="Arial"/>
              </a:rPr>
              <a:t>kan</a:t>
            </a:r>
            <a:r>
              <a:rPr sz="1080" b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080" b="0" err="1">
                <a:solidFill>
                  <a:srgbClr val="0C234C"/>
                </a:solidFill>
                <a:latin typeface="Arial"/>
              </a:rPr>
              <a:t>provas</a:t>
            </a:r>
            <a:r>
              <a:rPr sz="1080" b="0">
                <a:solidFill>
                  <a:srgbClr val="0C234C"/>
                </a:solidFill>
                <a:latin typeface="Arial"/>
              </a:rPr>
              <a:t> med state/action.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80" b="1">
                <a:solidFill>
                  <a:srgbClr val="D7AB3A"/>
                </a:solidFill>
                <a:latin typeface="Arial"/>
              </a:rPr>
              <a:t>▪  </a:t>
            </a:r>
            <a:r>
              <a:rPr lang="en-GB" sz="1080" b="1" err="1">
                <a:solidFill>
                  <a:srgbClr val="0C234C"/>
                </a:solidFill>
                <a:latin typeface="Arial"/>
              </a:rPr>
              <a:t>Datadriven</a:t>
            </a:r>
            <a:r>
              <a:rPr sz="1080" b="1">
                <a:solidFill>
                  <a:srgbClr val="0C234C"/>
                </a:solidFill>
                <a:latin typeface="Arial"/>
              </a:rPr>
              <a:t> tuning</a:t>
            </a:r>
            <a:r>
              <a:rPr sz="1080" b="0">
                <a:solidFill>
                  <a:srgbClr val="0C234C"/>
                </a:solidFill>
                <a:latin typeface="Arial"/>
              </a:rPr>
              <a:t>: </a:t>
            </a:r>
            <a:r>
              <a:rPr lang="en-GB" sz="1080" b="0" err="1">
                <a:solidFill>
                  <a:srgbClr val="0C234C"/>
                </a:solidFill>
                <a:latin typeface="Arial"/>
              </a:rPr>
              <a:t>balansvärden</a:t>
            </a:r>
            <a:r>
              <a:rPr sz="1080" b="0">
                <a:solidFill>
                  <a:srgbClr val="0C234C"/>
                </a:solidFill>
                <a:latin typeface="Arial"/>
              </a:rPr>
              <a:t> ligger </a:t>
            </a:r>
            <a:r>
              <a:rPr lang="en-GB" sz="1080" b="0" err="1">
                <a:solidFill>
                  <a:srgbClr val="0C234C"/>
                </a:solidFill>
                <a:latin typeface="Arial"/>
              </a:rPr>
              <a:t>i</a:t>
            </a:r>
            <a:r>
              <a:rPr sz="1080" b="0">
                <a:solidFill>
                  <a:srgbClr val="0C234C"/>
                </a:solidFill>
                <a:latin typeface="Arial"/>
              </a:rPr>
              <a:t> probabilities, durations, capacities och phases.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00" y="360000"/>
            <a:ext cx="9200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D7AB3A"/>
                </a:solidFill>
                <a:latin typeface="Arial"/>
              </a:rPr>
              <a:t>0</a:t>
            </a:r>
            <a:r>
              <a:rPr lang="en-GB" sz="3000" b="1" i="0">
                <a:solidFill>
                  <a:srgbClr val="D7AB3A"/>
                </a:solidFill>
                <a:latin typeface="Arial"/>
              </a:rPr>
              <a:t>2</a:t>
            </a:r>
            <a:r>
              <a:rPr sz="3000" b="1" i="0">
                <a:solidFill>
                  <a:srgbClr val="D7AB3A"/>
                </a:solidFill>
                <a:latin typeface="Arial"/>
              </a:rPr>
              <a:t>  </a:t>
            </a:r>
            <a:r>
              <a:rPr sz="3000" b="1" i="0" err="1">
                <a:solidFill>
                  <a:srgbClr val="0C234C"/>
                </a:solidFill>
                <a:latin typeface="Arial"/>
              </a:rPr>
              <a:t>Plattform</a:t>
            </a:r>
            <a:r>
              <a:rPr sz="3000" b="1" i="0">
                <a:solidFill>
                  <a:srgbClr val="0C234C"/>
                </a:solidFill>
                <a:latin typeface="Arial"/>
              </a:rPr>
              <a:t> &amp;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880000"/>
            <a:ext cx="105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4A5B78"/>
                </a:solidFill>
                <a:latin typeface="Arial"/>
              </a:rPr>
              <a:t>Klientbaserad webbapplikation: enkel att demonstrera, enkel att hosta, enkel att granska.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00" y="1310000"/>
            <a:ext cx="740000" cy="54000"/>
          </a:xfrm>
          <a:prstGeom prst="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00" y="1560000"/>
            <a:ext cx="53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192E"/>
                </a:solidFill>
                <a:latin typeface="Arial"/>
              </a:rPr>
              <a:t>KÖRNINGSMILJÖ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00" y="1960000"/>
            <a:ext cx="5220000" cy="560000"/>
          </a:xfrm>
          <a:prstGeom prst="rect">
            <a:avLst/>
          </a:prstGeom>
          <a:solidFill>
            <a:srgbClr val="F2F4F8"/>
          </a:solidFill>
          <a:ln w="8890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000" y="1960000"/>
            <a:ext cx="145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880"/>
                </a:solidFill>
                <a:latin typeface="Arial"/>
              </a:rPr>
              <a:t>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0000" y="1960000"/>
            <a:ext cx="332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234C"/>
                </a:solidFill>
                <a:latin typeface="Arial"/>
              </a:rPr>
              <a:t>Modern webbläsare; all simulering sker klient-sidigt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00" y="2520000"/>
            <a:ext cx="5220000" cy="560000"/>
          </a:xfrm>
          <a:prstGeom prst="rect">
            <a:avLst/>
          </a:prstGeom>
          <a:solidFill>
            <a:srgbClr val="FFFFFF"/>
          </a:solidFill>
          <a:ln w="8890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0000" y="2520000"/>
            <a:ext cx="145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880"/>
                </a:solidFill>
                <a:latin typeface="Arial"/>
              </a:rPr>
              <a:t>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0000" y="2520000"/>
            <a:ext cx="332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234C"/>
                </a:solidFill>
                <a:latin typeface="Arial"/>
              </a:rPr>
              <a:t>Statisk build i dist/ via Vite; hostas på GitHub Pages eller valfri statisk webbhost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00" y="3080000"/>
            <a:ext cx="5220000" cy="560000"/>
          </a:xfrm>
          <a:prstGeom prst="rect">
            <a:avLst/>
          </a:prstGeom>
          <a:solidFill>
            <a:srgbClr val="F2F4F8"/>
          </a:solidFill>
          <a:ln w="8890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000" y="3080000"/>
            <a:ext cx="145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880"/>
                </a:solidFill>
                <a:latin typeface="Arial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0000" y="3080000"/>
            <a:ext cx="332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234C"/>
                </a:solidFill>
                <a:latin typeface="Arial"/>
              </a:rPr>
              <a:t>Ingen server, databas, API eller WebSocket-beroende i nuvarande version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00" y="3640000"/>
            <a:ext cx="5220000" cy="560000"/>
          </a:xfrm>
          <a:prstGeom prst="rect">
            <a:avLst/>
          </a:prstGeom>
          <a:solidFill>
            <a:srgbClr val="FFFFFF"/>
          </a:solidFill>
          <a:ln w="8890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000" y="3640000"/>
            <a:ext cx="145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880"/>
                </a:solidFill>
                <a:latin typeface="Arial"/>
              </a:rPr>
              <a:t>Utveckling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0000" y="3640000"/>
            <a:ext cx="332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234C"/>
                </a:solidFill>
                <a:latin typeface="Arial"/>
              </a:rPr>
              <a:t>npm ci + npm run dev; Vite-server på port 8080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00" y="4200000"/>
            <a:ext cx="5220000" cy="560000"/>
          </a:xfrm>
          <a:prstGeom prst="rect">
            <a:avLst/>
          </a:prstGeom>
          <a:solidFill>
            <a:srgbClr val="F2F4F8"/>
          </a:solidFill>
          <a:ln w="8890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000" y="4200000"/>
            <a:ext cx="145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880"/>
                </a:solidFill>
                <a:latin typeface="Arial"/>
              </a:rPr>
              <a:t>Produktion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0000" y="4200000"/>
            <a:ext cx="332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234C"/>
                </a:solidFill>
                <a:latin typeface="Arial"/>
              </a:rPr>
              <a:t>npm run build; base path /smart-airbase-system/ enligt vite.config.ts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00" y="4760000"/>
            <a:ext cx="5220000" cy="560000"/>
          </a:xfrm>
          <a:prstGeom prst="rect">
            <a:avLst/>
          </a:prstGeom>
          <a:solidFill>
            <a:srgbClr val="FFFFFF"/>
          </a:solidFill>
          <a:ln w="8890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0000" y="4760000"/>
            <a:ext cx="145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880"/>
                </a:solidFill>
                <a:latin typeface="Arial"/>
              </a:rPr>
              <a:t>CI/CD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60000" y="4760000"/>
            <a:ext cx="332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234C"/>
                </a:solidFill>
                <a:latin typeface="Arial"/>
              </a:rPr>
              <a:t>GitHub Actions bygger med Node 20 och publicerar dist till Pages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0000" y="1560000"/>
            <a:ext cx="5270000" cy="39200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0000" y="1780000"/>
            <a:ext cx="470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192E"/>
                </a:solidFill>
                <a:latin typeface="Arial"/>
              </a:rPr>
              <a:t>TEKNIKSTACK I BOTTEN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0000" y="2220000"/>
            <a:ext cx="15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A6880"/>
                </a:solidFill>
                <a:latin typeface="Arial"/>
              </a:rPr>
              <a:t>UI/runtime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0000" y="2220000"/>
            <a:ext cx="3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0C234C"/>
                </a:solidFill>
                <a:latin typeface="Arial"/>
              </a:rPr>
              <a:t>React 18.3 + React DOM + React Router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0000" y="2645000"/>
            <a:ext cx="15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A6880"/>
                </a:solidFill>
                <a:latin typeface="Arial"/>
              </a:rPr>
              <a:t>Språk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0000" y="2645000"/>
            <a:ext cx="3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0C234C"/>
                </a:solidFill>
                <a:latin typeface="Arial"/>
              </a:rPr>
              <a:t>TypeScript 5.8; alias @/* till src/*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0000" y="3070000"/>
            <a:ext cx="15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A6880"/>
                </a:solidFill>
                <a:latin typeface="Arial"/>
              </a:rPr>
              <a:t>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0000" y="3070000"/>
            <a:ext cx="3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0C234C"/>
                </a:solidFill>
                <a:latin typeface="Arial"/>
              </a:rPr>
              <a:t>Vite 5.4 + @vitejs/plugin-react-swc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0000" y="3495000"/>
            <a:ext cx="15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A6880"/>
                </a:solidFill>
                <a:latin typeface="Arial"/>
              </a:rPr>
              <a:t>Styling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0000" y="3495000"/>
            <a:ext cx="3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0C234C"/>
                </a:solidFill>
                <a:latin typeface="Arial"/>
              </a:rPr>
              <a:t>Tailwind CSS 3.4 + Radix/shadcn-primitives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0000" y="3920000"/>
            <a:ext cx="15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A6880"/>
                </a:solidFill>
                <a:latin typeface="Arial"/>
              </a:rPr>
              <a:t>Karta/visualisering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0000" y="3920000"/>
            <a:ext cx="3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0C234C"/>
                </a:solidFill>
                <a:latin typeface="Arial"/>
              </a:rPr>
              <a:t>MapLibre GL, react-map-gl, Recharts, Framer Motion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0000" y="4345000"/>
            <a:ext cx="15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A6880"/>
                </a:solidFill>
                <a:latin typeface="Arial"/>
              </a:rPr>
              <a:t>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0000" y="4345000"/>
            <a:ext cx="3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0C234C"/>
                </a:solidFill>
                <a:latin typeface="Arial"/>
              </a:rPr>
              <a:t>React useReducer + Context; ingen Redux/Zustand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0000" y="4770000"/>
            <a:ext cx="15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A6880"/>
                </a:solidFill>
                <a:latin typeface="Arial"/>
              </a:rPr>
              <a:t>Kvalitet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0000" y="4770000"/>
            <a:ext cx="3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0C234C"/>
                </a:solidFill>
                <a:latin typeface="Arial"/>
              </a:rPr>
              <a:t>ESLint 9, Vitest/jsdom, Playwright-konfiguration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00" y="5480000"/>
            <a:ext cx="5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A5B78"/>
                </a:solidFill>
                <a:latin typeface="Arial"/>
              </a:rPr>
              <a:t>Konsekvens: lösningen kan skickas som URL eller köras lokalt efter installation av Node/npm. Efter initial laddning finns ingen runtime-koppling till externa tjänster.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00" y="360000"/>
            <a:ext cx="92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D7AB3A"/>
                </a:solidFill>
                <a:latin typeface="Arial"/>
              </a:rPr>
              <a:t>03  </a:t>
            </a:r>
            <a:r>
              <a:rPr sz="3000" b="1" i="0">
                <a:solidFill>
                  <a:srgbClr val="0C234C"/>
                </a:solidFill>
                <a:latin typeface="Arial"/>
              </a:rPr>
              <a:t>Simuleringsmodell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880000"/>
            <a:ext cx="105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4A5B78"/>
                </a:solidFill>
                <a:latin typeface="Arial"/>
              </a:rPr>
              <a:t>Operativ logik, resurser och stokastik ligger explicit i kod och config.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00" y="1310000"/>
            <a:ext cx="740000" cy="54000"/>
          </a:xfrm>
          <a:prstGeom prst="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00" y="1580000"/>
            <a:ext cx="3300000" cy="13900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00" y="1580000"/>
            <a:ext cx="90000" cy="1390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0000" y="1740000"/>
            <a:ext cx="289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C234C"/>
                </a:solidFill>
                <a:latin typeface="Arial"/>
              </a:rPr>
              <a:t>14-fas turcykel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000" y="2080000"/>
            <a:ext cx="2890000" cy="7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C4A63"/>
                </a:solidFill>
                <a:latin typeface="Arial"/>
              </a:rPr>
              <a:t>Initialize -&gt; Interpret ATO -&gt; Review Resources -&gt; gruppering -&gt; bemanning -&gt; behov -&gt; tidsplan -&gt; tilldelning -&gt; klargöring -&gt; status/rekommendationer -&gt; utfall -&gt; rapport -&gt; UH-plan -&gt; tid.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0000" y="1580000"/>
            <a:ext cx="3300000" cy="13900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20000" y="1580000"/>
            <a:ext cx="90000" cy="1390000"/>
          </a:xfrm>
          <a:prstGeom prst="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0000" y="1740000"/>
            <a:ext cx="28900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sv-SE" sz="1350" b="1">
                <a:solidFill>
                  <a:srgbClr val="0C234C"/>
                </a:solidFill>
                <a:latin typeface="Arial"/>
              </a:rPr>
              <a:t>Stokastiska utfall</a:t>
            </a:r>
            <a:endParaRPr sz="1350" b="1" i="0">
              <a:solidFill>
                <a:srgbClr val="0C234C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50000" y="2080000"/>
            <a:ext cx="2890000" cy="6669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GB" sz="1050">
                <a:solidFill>
                  <a:srgbClr val="3C4A63"/>
                </a:solidFill>
                <a:latin typeface="Arial"/>
              </a:rPr>
              <a:t>Table A </a:t>
            </a:r>
            <a:r>
              <a:rPr lang="en-GB" sz="1050" err="1">
                <a:solidFill>
                  <a:srgbClr val="3C4A63"/>
                </a:solidFill>
                <a:latin typeface="Arial"/>
              </a:rPr>
              <a:t>hanterar</a:t>
            </a:r>
            <a:r>
              <a:rPr lang="en-GB" sz="1050">
                <a:solidFill>
                  <a:srgbClr val="3C4A63"/>
                </a:solidFill>
                <a:latin typeface="Arial"/>
              </a:rPr>
              <a:t> </a:t>
            </a:r>
            <a:r>
              <a:rPr lang="en-GB" sz="1050" err="1">
                <a:solidFill>
                  <a:srgbClr val="3C4A63"/>
                </a:solidFill>
                <a:latin typeface="Arial"/>
              </a:rPr>
              <a:t>klargöring</a:t>
            </a:r>
            <a:r>
              <a:rPr lang="en-GB" sz="1050">
                <a:solidFill>
                  <a:srgbClr val="3C4A63"/>
                </a:solidFill>
                <a:latin typeface="Arial"/>
              </a:rPr>
              <a:t>/startup BIT. Table B </a:t>
            </a:r>
            <a:r>
              <a:rPr lang="en-GB" sz="1050" err="1">
                <a:solidFill>
                  <a:srgbClr val="3C4A63"/>
                </a:solidFill>
                <a:latin typeface="Arial"/>
              </a:rPr>
              <a:t>hanterar</a:t>
            </a:r>
            <a:r>
              <a:rPr lang="en-GB" sz="1050">
                <a:solidFill>
                  <a:srgbClr val="3C4A63"/>
                </a:solidFill>
                <a:latin typeface="Arial"/>
              </a:rPr>
              <a:t> </a:t>
            </a:r>
            <a:r>
              <a:rPr lang="en-GB" sz="1050" err="1">
                <a:solidFill>
                  <a:srgbClr val="3C4A63"/>
                </a:solidFill>
                <a:latin typeface="Arial"/>
              </a:rPr>
              <a:t>mottagning</a:t>
            </a:r>
            <a:r>
              <a:rPr lang="en-GB" sz="1050">
                <a:solidFill>
                  <a:srgbClr val="3C4A63"/>
                </a:solidFill>
                <a:latin typeface="Arial"/>
              </a:rPr>
              <a:t> </a:t>
            </a:r>
            <a:r>
              <a:rPr lang="en-GB" sz="1050" err="1">
                <a:solidFill>
                  <a:srgbClr val="3C4A63"/>
                </a:solidFill>
                <a:latin typeface="Arial"/>
              </a:rPr>
              <a:t>efter</a:t>
            </a:r>
            <a:r>
              <a:rPr lang="en-GB" sz="1050">
                <a:solidFill>
                  <a:srgbClr val="3C4A63"/>
                </a:solidFill>
                <a:latin typeface="Arial"/>
              </a:rPr>
              <a:t> </a:t>
            </a:r>
            <a:r>
              <a:rPr lang="en-GB" sz="1050" err="1">
                <a:solidFill>
                  <a:srgbClr val="3C4A63"/>
                </a:solidFill>
                <a:latin typeface="Arial"/>
              </a:rPr>
              <a:t>uppdrag</a:t>
            </a:r>
            <a:r>
              <a:rPr lang="en-GB" sz="1050">
                <a:solidFill>
                  <a:srgbClr val="3C4A63"/>
                </a:solidFill>
                <a:latin typeface="Arial"/>
              </a:rPr>
              <a:t>. </a:t>
            </a:r>
            <a:r>
              <a:rPr lang="en-GB" sz="1050" err="1">
                <a:solidFill>
                  <a:srgbClr val="3C4A63"/>
                </a:solidFill>
                <a:latin typeface="Arial"/>
              </a:rPr>
              <a:t>Tärning</a:t>
            </a:r>
            <a:r>
              <a:rPr lang="en-GB" sz="1050">
                <a:solidFill>
                  <a:srgbClr val="3C4A63"/>
                </a:solidFill>
                <a:latin typeface="Arial"/>
              </a:rPr>
              <a:t> </a:t>
            </a:r>
            <a:r>
              <a:rPr lang="en-GB" sz="1050" err="1">
                <a:solidFill>
                  <a:srgbClr val="3C4A63"/>
                </a:solidFill>
                <a:latin typeface="Arial"/>
              </a:rPr>
              <a:t>styr</a:t>
            </a:r>
            <a:r>
              <a:rPr lang="en-GB" sz="1050">
                <a:solidFill>
                  <a:srgbClr val="3C4A63"/>
                </a:solidFill>
                <a:latin typeface="Arial"/>
              </a:rPr>
              <a:t> </a:t>
            </a:r>
            <a:r>
              <a:rPr lang="en-GB" sz="1050" err="1">
                <a:solidFill>
                  <a:srgbClr val="3C4A63"/>
                </a:solidFill>
                <a:latin typeface="Arial"/>
              </a:rPr>
              <a:t>feltyp</a:t>
            </a:r>
            <a:r>
              <a:rPr lang="en-GB" sz="1050">
                <a:solidFill>
                  <a:srgbClr val="3C4A63"/>
                </a:solidFill>
                <a:latin typeface="Arial"/>
              </a:rPr>
              <a:t>, </a:t>
            </a:r>
            <a:r>
              <a:rPr lang="en-GB" sz="1050" err="1">
                <a:solidFill>
                  <a:srgbClr val="3C4A63"/>
                </a:solidFill>
                <a:latin typeface="Arial"/>
              </a:rPr>
              <a:t>facilitet</a:t>
            </a:r>
            <a:r>
              <a:rPr lang="en-GB" sz="1050">
                <a:solidFill>
                  <a:srgbClr val="3C4A63"/>
                </a:solidFill>
                <a:latin typeface="Arial"/>
              </a:rPr>
              <a:t>, </a:t>
            </a:r>
            <a:r>
              <a:rPr lang="en-GB" sz="1050" err="1">
                <a:solidFill>
                  <a:srgbClr val="3C4A63"/>
                </a:solidFill>
                <a:latin typeface="Arial"/>
              </a:rPr>
              <a:t>kompetens</a:t>
            </a:r>
            <a:r>
              <a:rPr lang="en-GB" sz="1050">
                <a:solidFill>
                  <a:srgbClr val="3C4A63"/>
                </a:solidFill>
                <a:latin typeface="Arial"/>
              </a:rPr>
              <a:t>, </a:t>
            </a:r>
            <a:r>
              <a:rPr lang="en-GB" sz="1050" err="1">
                <a:solidFill>
                  <a:srgbClr val="3C4A63"/>
                </a:solidFill>
                <a:latin typeface="Arial"/>
              </a:rPr>
              <a:t>reservdel</a:t>
            </a:r>
            <a:r>
              <a:rPr lang="en-GB" sz="1050">
                <a:solidFill>
                  <a:srgbClr val="3C4A63"/>
                </a:solidFill>
                <a:latin typeface="Arial"/>
              </a:rPr>
              <a:t>, </a:t>
            </a:r>
            <a:r>
              <a:rPr lang="en-GB" sz="1050" err="1">
                <a:solidFill>
                  <a:srgbClr val="3C4A63"/>
                </a:solidFill>
                <a:latin typeface="Arial"/>
              </a:rPr>
              <a:t>vapentapp</a:t>
            </a:r>
            <a:r>
              <a:rPr lang="en-GB" sz="1050">
                <a:solidFill>
                  <a:srgbClr val="3C4A63"/>
                </a:solidFill>
                <a:latin typeface="Arial"/>
              </a:rPr>
              <a:t> och extra UH-</a:t>
            </a:r>
            <a:r>
              <a:rPr lang="en-GB" sz="1050" err="1">
                <a:solidFill>
                  <a:srgbClr val="3C4A63"/>
                </a:solidFill>
                <a:latin typeface="Arial"/>
              </a:rPr>
              <a:t>tid</a:t>
            </a:r>
            <a:r>
              <a:rPr lang="en-GB" sz="1050">
                <a:solidFill>
                  <a:srgbClr val="3C4A63"/>
                </a:solidFill>
                <a:latin typeface="Arial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00000" y="1580000"/>
            <a:ext cx="3750000" cy="13900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00000" y="1580000"/>
            <a:ext cx="90000" cy="1390000"/>
          </a:xfrm>
          <a:prstGeom prst="rect">
            <a:avLst/>
          </a:prstGeom>
          <a:solidFill>
            <a:srgbClr val="1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30000" y="1740000"/>
            <a:ext cx="334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C234C"/>
                </a:solidFill>
                <a:latin typeface="Arial"/>
              </a:rPr>
              <a:t>9-state aircraft 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0000" y="2080000"/>
            <a:ext cx="3340000" cy="7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C4A63"/>
                </a:solidFill>
                <a:latin typeface="Arial"/>
              </a:rPr>
              <a:t>ready -&gt; allocated -&gt; in_preparation -&gt; awaiting_launch -&gt; on_mission -&gt; returning -&gt; recovering -&gt; under_maintenance -&gt; unavailable.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00" y="3250000"/>
            <a:ext cx="3300000" cy="13700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00" y="3250000"/>
            <a:ext cx="90000" cy="1370000"/>
          </a:xfrm>
          <a:prstGeom prst="rect">
            <a:avLst/>
          </a:prstGeom>
          <a:solidFill>
            <a:srgbClr val="1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0000" y="3410000"/>
            <a:ext cx="289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C234C"/>
                </a:solidFill>
                <a:latin typeface="Arial"/>
              </a:rPr>
              <a:t>ATO och uppdrag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000" y="3750000"/>
            <a:ext cx="2890000" cy="6669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C4A63"/>
                </a:solidFill>
                <a:latin typeface="Arial"/>
              </a:rPr>
              <a:t>Order </a:t>
            </a:r>
            <a:r>
              <a:rPr lang="vi-VN" sz="1050" b="0" i="0" err="1">
                <a:solidFill>
                  <a:srgbClr val="3C4A63"/>
                </a:solidFill>
                <a:latin typeface="Arial"/>
              </a:rPr>
              <a:t>skapas</a:t>
            </a:r>
            <a:r>
              <a:rPr sz="1050" b="0" i="0">
                <a:solidFill>
                  <a:srgbClr val="3C4A63"/>
                </a:solidFill>
                <a:latin typeface="Arial"/>
              </a:rPr>
              <a:t>, </a:t>
            </a:r>
            <a:r>
              <a:rPr lang="vi-VN" sz="1050" b="0" i="0" err="1">
                <a:solidFill>
                  <a:srgbClr val="3C4A63"/>
                </a:solidFill>
                <a:latin typeface="Arial"/>
              </a:rPr>
              <a:t>importeras</a:t>
            </a:r>
            <a:r>
              <a:rPr sz="1050" b="0" i="0">
                <a:solidFill>
                  <a:srgbClr val="3C4A63"/>
                </a:solidFill>
                <a:latin typeface="Arial"/>
              </a:rPr>
              <a:t>, </a:t>
            </a:r>
            <a:r>
              <a:rPr lang="vi-VN" sz="1050" b="0" i="0" err="1">
                <a:solidFill>
                  <a:srgbClr val="3C4A63"/>
                </a:solidFill>
                <a:latin typeface="Arial"/>
              </a:rPr>
              <a:t>redigeras</a:t>
            </a:r>
            <a:r>
              <a:rPr sz="1050" b="0" i="0">
                <a:solidFill>
                  <a:srgbClr val="3C4A63"/>
                </a:solidFill>
                <a:latin typeface="Arial"/>
              </a:rPr>
              <a:t> och visas </a:t>
            </a:r>
            <a:r>
              <a:rPr lang="vi-VN" sz="1050" b="0" i="0" err="1">
                <a:solidFill>
                  <a:srgbClr val="3C4A63"/>
                </a:solidFill>
                <a:latin typeface="Arial"/>
              </a:rPr>
              <a:t>som</a:t>
            </a:r>
            <a:r>
              <a:rPr sz="1050" b="0" i="0">
                <a:solidFill>
                  <a:srgbClr val="3C4A63"/>
                </a:solidFill>
                <a:latin typeface="Arial"/>
              </a:rPr>
              <a:t> Gantt. </a:t>
            </a:r>
            <a:r>
              <a:rPr lang="vi-VN" sz="1050" b="0" i="0" err="1">
                <a:solidFill>
                  <a:srgbClr val="3C4A63"/>
                </a:solidFill>
                <a:latin typeface="Arial"/>
              </a:rPr>
              <a:t>Missionstyper</a:t>
            </a:r>
            <a:r>
              <a:rPr sz="1050" b="0" i="0">
                <a:solidFill>
                  <a:srgbClr val="3C4A63"/>
                </a:solidFill>
                <a:latin typeface="Arial"/>
              </a:rPr>
              <a:t> </a:t>
            </a:r>
            <a:r>
              <a:rPr lang="vi-VN" sz="1050" b="0" i="0" err="1">
                <a:solidFill>
                  <a:srgbClr val="3C4A63"/>
                </a:solidFill>
                <a:latin typeface="Arial"/>
              </a:rPr>
              <a:t>omfattar</a:t>
            </a:r>
            <a:r>
              <a:rPr sz="1050" b="0" i="0">
                <a:solidFill>
                  <a:srgbClr val="3C4A63"/>
                </a:solidFill>
                <a:latin typeface="Arial"/>
              </a:rPr>
              <a:t> QRA, DCA, RECCE, AEW, AI_DT, AI_ST, ESCORT, TRANSPORT och REBASE.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0000" y="3250000"/>
            <a:ext cx="3300000" cy="13700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20000" y="3250000"/>
            <a:ext cx="90000" cy="1370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50000" y="3410000"/>
            <a:ext cx="28900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GB" sz="1350" b="1" i="0" err="1">
                <a:solidFill>
                  <a:srgbClr val="0C234C"/>
                </a:solidFill>
                <a:latin typeface="Arial"/>
              </a:rPr>
              <a:t>Interaktiv</a:t>
            </a:r>
            <a:r>
              <a:rPr lang="en-GB" sz="1350" b="1" i="0">
                <a:solidFill>
                  <a:srgbClr val="0C234C"/>
                </a:solidFill>
                <a:latin typeface="Arial"/>
              </a:rPr>
              <a:t> </a:t>
            </a:r>
            <a:r>
              <a:rPr lang="en-GB" sz="1350" b="1">
                <a:solidFill>
                  <a:srgbClr val="0C234C"/>
                </a:solidFill>
                <a:latin typeface="Arial"/>
              </a:rPr>
              <a:t>live karta</a:t>
            </a:r>
            <a:endParaRPr sz="1350" b="1" i="0">
              <a:solidFill>
                <a:srgbClr val="0C234C"/>
              </a:solidFill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50000" y="3750000"/>
            <a:ext cx="2890000" cy="497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sv-SE" sz="1050" b="0" i="0">
                <a:solidFill>
                  <a:srgbClr val="3C4A63"/>
                </a:solidFill>
                <a:latin typeface="Arial"/>
              </a:rPr>
              <a:t>Live karta där vi kan trackar flygplan. Grafen kan även visa Sveriges gränser och militära operationsområden.</a:t>
            </a:r>
            <a:endParaRPr sz="1050" b="0" i="0">
              <a:solidFill>
                <a:srgbClr val="3C4A63"/>
              </a:solidFill>
              <a:latin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800000" y="3250000"/>
            <a:ext cx="3750000" cy="13700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00000" y="3250000"/>
            <a:ext cx="90000" cy="1370000"/>
          </a:xfrm>
          <a:prstGeom prst="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30000" y="3410000"/>
            <a:ext cx="334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C234C"/>
                </a:solidFill>
                <a:latin typeface="Arial"/>
              </a:rPr>
              <a:t>Resursmodell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0000" y="3750000"/>
            <a:ext cx="3340000" cy="7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C4A63"/>
                </a:solidFill>
                <a:latin typeface="Arial"/>
              </a:rPr>
              <a:t>Baser har flygplan, bränsle, ammunition, reservdelar, personal, zonkapaciteter och UH-platser. MOB/FOB_N/FOB_S startar med olika skala och begränsningar.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00" y="4940000"/>
            <a:ext cx="10920000" cy="640000"/>
          </a:xfrm>
          <a:prstGeom prst="rect">
            <a:avLst/>
          </a:prstGeom>
          <a:solidFill>
            <a:srgbClr val="0C2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0000" y="5090000"/>
            <a:ext cx="1042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FFFFFF"/>
                </a:solidFill>
                <a:latin typeface="Arial"/>
              </a:rPr>
              <a:t>Vad detta ger i praktiken: Saab kan diskutera basrobusthet, flaskhalsar, ATO-uppfyllnad, reparationsköer, reservdelsbrist och ombasering i samma simulerade läge.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380728-1C21-1229-F617-5A7AFDA14930}"/>
              </a:ext>
            </a:extLst>
          </p:cNvPr>
          <p:cNvSpPr txBox="1"/>
          <p:nvPr/>
        </p:nvSpPr>
        <p:spPr>
          <a:xfrm>
            <a:off x="408562" y="55058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00" y="0"/>
            <a:ext cx="12192000" cy="6858000"/>
          </a:xfrm>
          <a:prstGeom prst="rect">
            <a:avLst/>
          </a:prstGeom>
          <a:solidFill>
            <a:srgbClr val="0C2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00" y="560000"/>
            <a:ext cx="10912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800" b="1" i="0">
                <a:solidFill>
                  <a:srgbClr val="D7AB3A"/>
                </a:solidFill>
                <a:latin typeface="Arial"/>
              </a:rPr>
              <a:t>VIDARE</a:t>
            </a:r>
            <a:r>
              <a:rPr lang="en-US" b="1" i="0">
                <a:solidFill>
                  <a:srgbClr val="D7AB3A"/>
                </a:solidFill>
                <a:latin typeface="Arial"/>
              </a:rPr>
              <a:t> </a:t>
            </a:r>
            <a:r>
              <a:rPr lang="en-US" sz="2800" b="1" i="0">
                <a:solidFill>
                  <a:srgbClr val="D7AB3A"/>
                </a:solidFill>
                <a:latin typeface="Arial"/>
              </a:rPr>
              <a:t>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104259"/>
            <a:ext cx="1090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 err="1">
                <a:solidFill>
                  <a:srgbClr val="FFFFFF"/>
                </a:solidFill>
                <a:latin typeface="Arial"/>
              </a:rPr>
              <a:t>Från</a:t>
            </a:r>
            <a:r>
              <a:rPr lang="en-US" sz="1400" b="1" i="0">
                <a:solidFill>
                  <a:srgbClr val="FFFFFF"/>
                </a:solidFill>
                <a:latin typeface="Arial"/>
              </a:rPr>
              <a:t> demo till </a:t>
            </a:r>
            <a:r>
              <a:rPr lang="en-US" sz="1400" b="1" i="0" err="1">
                <a:solidFill>
                  <a:srgbClr val="FFFFFF"/>
                </a:solidFill>
                <a:latin typeface="Arial"/>
              </a:rPr>
              <a:t>ett</a:t>
            </a:r>
            <a:r>
              <a:rPr lang="en-US" sz="1400" b="1" i="0">
                <a:solidFill>
                  <a:srgbClr val="FFFFFF"/>
                </a:solidFill>
                <a:latin typeface="Arial"/>
              </a:rPr>
              <a:t> AI-</a:t>
            </a:r>
            <a:r>
              <a:rPr lang="en-US" sz="1400" b="1" i="0" err="1">
                <a:solidFill>
                  <a:srgbClr val="FFFFFF"/>
                </a:solidFill>
                <a:latin typeface="Arial"/>
              </a:rPr>
              <a:t>stött</a:t>
            </a:r>
            <a:r>
              <a:rPr lang="en-US" sz="1400" b="1" i="0">
                <a:solidFill>
                  <a:srgbClr val="FFFFFF"/>
                </a:solidFill>
                <a:latin typeface="Arial"/>
              </a:rPr>
              <a:t>, </a:t>
            </a:r>
            <a:r>
              <a:rPr lang="en-US" sz="1400" b="1" i="0" err="1">
                <a:solidFill>
                  <a:srgbClr val="FFFFFF"/>
                </a:solidFill>
                <a:latin typeface="Arial"/>
              </a:rPr>
              <a:t>delat</a:t>
            </a:r>
            <a:r>
              <a:rPr lang="en-US" sz="1400" b="1" i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1400" b="1" i="0" err="1">
                <a:solidFill>
                  <a:srgbClr val="FFFFFF"/>
                </a:solidFill>
                <a:latin typeface="Arial"/>
              </a:rPr>
              <a:t>utbildningsverktyg</a:t>
            </a:r>
            <a:r>
              <a:rPr lang="en-US" sz="1400" b="1" i="0">
                <a:solidFill>
                  <a:srgbClr val="FFFFFF"/>
                </a:solidFill>
                <a:latin typeface="Arial"/>
              </a:rPr>
              <a:t> för Saab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00" y="1939999"/>
            <a:ext cx="3460000" cy="1330499"/>
          </a:xfrm>
          <a:prstGeom prst="rect">
            <a:avLst/>
          </a:prstGeom>
          <a:solidFill>
            <a:srgbClr val="153366"/>
          </a:solidFill>
          <a:ln w="11430">
            <a:solidFill>
              <a:srgbClr val="35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00" y="1940000"/>
            <a:ext cx="3460000" cy="85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0000" y="2160000"/>
            <a:ext cx="300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Fördjupat AI-stöd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000" y="2500000"/>
            <a:ext cx="3000000" cy="616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80" b="0" i="0" err="1">
                <a:solidFill>
                  <a:schemeClr val="bg1"/>
                </a:solidFill>
                <a:latin typeface="Arial"/>
              </a:rPr>
              <a:t>Bygga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vidare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på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dagens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rådgivare</a:t>
            </a:r>
            <a:r>
              <a:rPr sz="980" b="0" i="0">
                <a:solidFill>
                  <a:schemeClr val="bg1"/>
                </a:solidFill>
                <a:latin typeface="Arial"/>
              </a:rPr>
              <a:t> till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en</a:t>
            </a:r>
            <a:r>
              <a:rPr sz="980" b="0" i="0">
                <a:solidFill>
                  <a:schemeClr val="bg1"/>
                </a:solidFill>
                <a:latin typeface="Arial"/>
              </a:rPr>
              <a:t> AI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som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förklarar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lägesbilden</a:t>
            </a:r>
            <a:r>
              <a:rPr sz="980" b="0" i="0">
                <a:solidFill>
                  <a:schemeClr val="bg1"/>
                </a:solidFill>
                <a:latin typeface="Arial"/>
              </a:rPr>
              <a:t>,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föreslår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underhålls</a:t>
            </a:r>
            <a:r>
              <a:rPr sz="980" b="0" i="0">
                <a:solidFill>
                  <a:schemeClr val="bg1"/>
                </a:solidFill>
                <a:latin typeface="Arial"/>
              </a:rPr>
              <a:t>- och ATO-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strategier</a:t>
            </a:r>
            <a:r>
              <a:rPr sz="980" b="0" i="0">
                <a:solidFill>
                  <a:schemeClr val="bg1"/>
                </a:solidFill>
                <a:latin typeface="Arial"/>
              </a:rPr>
              <a:t> och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kan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agera</a:t>
            </a:r>
            <a:r>
              <a:rPr lang="en-US"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som</a:t>
            </a:r>
            <a:r>
              <a:rPr lang="en-US"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motståndare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eller</a:t>
            </a:r>
            <a:r>
              <a:rPr sz="980" b="0" i="0">
                <a:solidFill>
                  <a:schemeClr val="bg1"/>
                </a:solidFill>
                <a:latin typeface="Arial"/>
              </a:rPr>
              <a:t> mentor under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spelets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gång</a:t>
            </a:r>
            <a:r>
              <a:rPr sz="980" b="0" i="0">
                <a:solidFill>
                  <a:schemeClr val="bg1"/>
                </a:solidFill>
                <a:latin typeface="Arial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0000" y="1940000"/>
            <a:ext cx="3460000" cy="1330498"/>
          </a:xfrm>
          <a:prstGeom prst="rect">
            <a:avLst/>
          </a:prstGeom>
          <a:solidFill>
            <a:srgbClr val="153366"/>
          </a:solidFill>
          <a:ln w="11430">
            <a:solidFill>
              <a:srgbClr val="35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0000" y="1940000"/>
            <a:ext cx="3460000" cy="85000"/>
          </a:xfrm>
          <a:prstGeom prst="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0000" y="2160000"/>
            <a:ext cx="300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Delat i realtid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000" y="2398228"/>
            <a:ext cx="3000000" cy="616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80" b="0" i="0" err="1">
                <a:solidFill>
                  <a:schemeClr val="bg1"/>
                </a:solidFill>
                <a:latin typeface="Arial"/>
              </a:rPr>
              <a:t>Flera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personer</a:t>
            </a:r>
            <a:r>
              <a:rPr lang="en-US" sz="980">
                <a:solidFill>
                  <a:schemeClr val="bg1"/>
                </a:solidFill>
                <a:latin typeface="Arial"/>
              </a:rPr>
              <a:t> ska </a:t>
            </a:r>
            <a:r>
              <a:rPr lang="en-US" sz="980" err="1">
                <a:solidFill>
                  <a:schemeClr val="bg1"/>
                </a:solidFill>
                <a:latin typeface="Arial"/>
              </a:rPr>
              <a:t>kunna</a:t>
            </a:r>
            <a:r>
              <a:rPr lang="en-US" sz="98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err="1">
                <a:solidFill>
                  <a:schemeClr val="bg1"/>
                </a:solidFill>
                <a:latin typeface="Arial"/>
              </a:rPr>
              <a:t>koppla</a:t>
            </a:r>
            <a:r>
              <a:rPr lang="en-US" sz="98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upp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sv-SE" sz="980" b="0" i="0">
                <a:solidFill>
                  <a:schemeClr val="bg1"/>
                </a:solidFill>
                <a:latin typeface="Arial"/>
              </a:rPr>
              <a:t>sig </a:t>
            </a:r>
            <a:r>
              <a:rPr sz="980" b="0" i="0">
                <a:solidFill>
                  <a:schemeClr val="bg1"/>
                </a:solidFill>
                <a:latin typeface="Arial"/>
              </a:rPr>
              <a:t>mot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samma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simulering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i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webbläsaren</a:t>
            </a:r>
            <a:r>
              <a:rPr sz="980" b="0" i="0">
                <a:solidFill>
                  <a:schemeClr val="bg1"/>
                </a:solidFill>
                <a:latin typeface="Arial"/>
              </a:rPr>
              <a:t> och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fattar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beslut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tillsammans</a:t>
            </a:r>
            <a:r>
              <a:rPr sz="980" b="0" i="0">
                <a:solidFill>
                  <a:schemeClr val="bg1"/>
                </a:solidFill>
                <a:latin typeface="Arial"/>
              </a:rPr>
              <a:t>, var och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en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i</a:t>
            </a:r>
            <a:r>
              <a:rPr sz="980" b="0" i="0">
                <a:solidFill>
                  <a:schemeClr val="bg1"/>
                </a:solidFill>
                <a:latin typeface="Arial"/>
              </a:rPr>
              <a:t> sin roll: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baschef</a:t>
            </a:r>
            <a:r>
              <a:rPr sz="980" b="0" i="0">
                <a:solidFill>
                  <a:schemeClr val="bg1"/>
                </a:solidFill>
                <a:latin typeface="Arial"/>
              </a:rPr>
              <a:t>, ATO-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planering</a:t>
            </a:r>
            <a:r>
              <a:rPr sz="980" b="0" i="0">
                <a:solidFill>
                  <a:schemeClr val="bg1"/>
                </a:solidFill>
                <a:latin typeface="Arial"/>
              </a:rPr>
              <a:t>,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logistik</a:t>
            </a:r>
            <a:r>
              <a:rPr sz="980" b="0" i="0">
                <a:solidFill>
                  <a:schemeClr val="bg1"/>
                </a:solidFill>
                <a:latin typeface="Arial"/>
              </a:rPr>
              <a:t> och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underhåll</a:t>
            </a:r>
            <a:r>
              <a:rPr sz="980" b="0" i="0">
                <a:solidFill>
                  <a:schemeClr val="bg1"/>
                </a:solidFill>
                <a:latin typeface="Arial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0000" y="1940000"/>
            <a:ext cx="3460000" cy="1330498"/>
          </a:xfrm>
          <a:prstGeom prst="rect">
            <a:avLst/>
          </a:prstGeom>
          <a:solidFill>
            <a:srgbClr val="153366"/>
          </a:solidFill>
          <a:ln w="11430">
            <a:solidFill>
              <a:srgbClr val="35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0000" y="1940000"/>
            <a:ext cx="3460000" cy="85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50000" y="2160000"/>
            <a:ext cx="300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Utbildningsverktyg för Saab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0000" y="2500000"/>
            <a:ext cx="3000000" cy="4599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 err="1">
                <a:solidFill>
                  <a:schemeClr val="bg1"/>
                </a:solidFill>
                <a:latin typeface="Arial"/>
              </a:rPr>
              <a:t>Träningsmiljö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sz="980" b="0" i="0" err="1">
                <a:solidFill>
                  <a:schemeClr val="bg1"/>
                </a:solidFill>
                <a:latin typeface="Arial"/>
              </a:rPr>
              <a:t>där</a:t>
            </a:r>
            <a:r>
              <a:rPr sz="980" b="0" i="0">
                <a:solidFill>
                  <a:schemeClr val="bg1"/>
                </a:solidFill>
                <a:latin typeface="Arial"/>
              </a:rPr>
              <a:t> personal </a:t>
            </a:r>
            <a:r>
              <a:rPr sz="980" b="0" i="0" err="1">
                <a:solidFill>
                  <a:schemeClr val="bg1"/>
                </a:solidFill>
                <a:latin typeface="Arial"/>
              </a:rPr>
              <a:t>övar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sz="980" b="0" i="0" err="1">
                <a:solidFill>
                  <a:schemeClr val="bg1"/>
                </a:solidFill>
                <a:latin typeface="Arial"/>
              </a:rPr>
              <a:t>beslutsfattande</a:t>
            </a:r>
            <a:r>
              <a:rPr sz="980" b="0" i="0">
                <a:solidFill>
                  <a:schemeClr val="bg1"/>
                </a:solidFill>
                <a:latin typeface="Arial"/>
              </a:rPr>
              <a:t> under FRED, KRIS och KRIG </a:t>
            </a:r>
            <a:r>
              <a:rPr sz="980" b="0" i="0" err="1">
                <a:solidFill>
                  <a:schemeClr val="bg1"/>
                </a:solidFill>
                <a:latin typeface="Arial"/>
              </a:rPr>
              <a:t>i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sz="980" b="0" i="0" err="1">
                <a:solidFill>
                  <a:schemeClr val="bg1"/>
                </a:solidFill>
                <a:latin typeface="Arial"/>
              </a:rPr>
              <a:t>en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sz="980" b="0" i="0" err="1">
                <a:solidFill>
                  <a:schemeClr val="bg1"/>
                </a:solidFill>
                <a:latin typeface="Arial"/>
              </a:rPr>
              <a:t>riskfri</a:t>
            </a:r>
            <a:r>
              <a:rPr sz="980" b="0" i="0">
                <a:solidFill>
                  <a:schemeClr val="bg1"/>
                </a:solidFill>
                <a:latin typeface="Arial"/>
              </a:rPr>
              <a:t> men </a:t>
            </a:r>
            <a:r>
              <a:rPr sz="980" b="0" i="0" err="1">
                <a:solidFill>
                  <a:schemeClr val="bg1"/>
                </a:solidFill>
                <a:latin typeface="Arial"/>
              </a:rPr>
              <a:t>källtrogen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sz="980" b="0" i="0" err="1">
                <a:solidFill>
                  <a:schemeClr val="bg1"/>
                </a:solidFill>
                <a:latin typeface="Arial"/>
              </a:rPr>
              <a:t>modell</a:t>
            </a:r>
            <a:r>
              <a:rPr sz="980" b="0" i="0">
                <a:solidFill>
                  <a:schemeClr val="bg1"/>
                </a:solidFill>
                <a:latin typeface="Arial"/>
              </a:rPr>
              <a:t> av </a:t>
            </a:r>
            <a:r>
              <a:rPr sz="980" b="0" i="0" err="1">
                <a:solidFill>
                  <a:schemeClr val="bg1"/>
                </a:solidFill>
                <a:latin typeface="Arial"/>
              </a:rPr>
              <a:t>flygbasdriften</a:t>
            </a:r>
            <a:r>
              <a:rPr sz="980" b="0" i="0">
                <a:solidFill>
                  <a:schemeClr val="bg1"/>
                </a:solidFill>
                <a:latin typeface="Arial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00" y="3490000"/>
            <a:ext cx="3460000" cy="1180000"/>
          </a:xfrm>
          <a:prstGeom prst="rect">
            <a:avLst/>
          </a:prstGeom>
          <a:solidFill>
            <a:srgbClr val="153366"/>
          </a:solidFill>
          <a:ln w="11430">
            <a:solidFill>
              <a:srgbClr val="35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00" y="3490000"/>
            <a:ext cx="3460000" cy="85000"/>
          </a:xfrm>
          <a:prstGeom prst="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0000" y="3710000"/>
            <a:ext cx="30000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AI </a:t>
            </a:r>
            <a:r>
              <a:rPr lang="en-US" sz="1350" b="1" i="0" err="1">
                <a:solidFill>
                  <a:srgbClr val="FFFFFF"/>
                </a:solidFill>
                <a:latin typeface="Arial"/>
              </a:rPr>
              <a:t>som</a:t>
            </a:r>
            <a:r>
              <a:rPr sz="1350" b="1" i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1350" b="1" i="0" err="1">
                <a:solidFill>
                  <a:srgbClr val="FFFFFF"/>
                </a:solidFill>
                <a:latin typeface="Arial"/>
              </a:rPr>
              <a:t>lärande</a:t>
            </a:r>
            <a:r>
              <a:rPr sz="1350" b="1" i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1350" b="1" i="0" err="1">
                <a:solidFill>
                  <a:srgbClr val="FFFFFF"/>
                </a:solidFill>
                <a:latin typeface="Arial"/>
              </a:rPr>
              <a:t>motpart</a:t>
            </a:r>
            <a:endParaRPr sz="135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0000" y="4050000"/>
            <a:ext cx="3000000" cy="4599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80" b="0" i="0" err="1">
                <a:solidFill>
                  <a:schemeClr val="bg1"/>
                </a:solidFill>
                <a:latin typeface="Arial"/>
              </a:rPr>
              <a:t>Låta</a:t>
            </a:r>
            <a:r>
              <a:rPr sz="980" b="0" i="0">
                <a:solidFill>
                  <a:schemeClr val="bg1"/>
                </a:solidFill>
                <a:latin typeface="Arial"/>
              </a:rPr>
              <a:t> AI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driva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scenariot</a:t>
            </a:r>
            <a:r>
              <a:rPr sz="980" b="0" i="0">
                <a:solidFill>
                  <a:schemeClr val="bg1"/>
                </a:solidFill>
                <a:latin typeface="Arial"/>
              </a:rPr>
              <a:t>,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ställa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följdfrågor</a:t>
            </a:r>
            <a:r>
              <a:rPr sz="980" b="0" i="0">
                <a:solidFill>
                  <a:schemeClr val="bg1"/>
                </a:solidFill>
                <a:latin typeface="Arial"/>
              </a:rPr>
              <a:t> och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peka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på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konsekvenser</a:t>
            </a:r>
            <a:r>
              <a:rPr sz="980" b="0" i="0">
                <a:solidFill>
                  <a:schemeClr val="bg1"/>
                </a:solidFill>
                <a:latin typeface="Arial"/>
              </a:rPr>
              <a:t>,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så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sv-SE" sz="980" b="0" i="0">
                <a:solidFill>
                  <a:schemeClr val="bg1"/>
                </a:solidFill>
                <a:latin typeface="Arial"/>
              </a:rPr>
              <a:t>att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nya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medarbetare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snabbt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får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förståelse</a:t>
            </a:r>
            <a:r>
              <a:rPr sz="980" b="0" i="0">
                <a:solidFill>
                  <a:schemeClr val="bg1"/>
                </a:solidFill>
                <a:latin typeface="Arial"/>
              </a:rPr>
              <a:t> för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basens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flaskhalsar</a:t>
            </a:r>
            <a:r>
              <a:rPr sz="980" b="0" i="0">
                <a:solidFill>
                  <a:schemeClr val="bg1"/>
                </a:solidFill>
                <a:latin typeface="Arial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0000" y="3490000"/>
            <a:ext cx="3460000" cy="1180000"/>
          </a:xfrm>
          <a:prstGeom prst="rect">
            <a:avLst/>
          </a:prstGeom>
          <a:solidFill>
            <a:srgbClr val="153366"/>
          </a:solidFill>
          <a:ln w="11430">
            <a:solidFill>
              <a:srgbClr val="35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0000" y="3490000"/>
            <a:ext cx="3460000" cy="85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0000" y="3710000"/>
            <a:ext cx="300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AAR som lärande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0000" y="4050000"/>
            <a:ext cx="3000000" cy="4599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80" b="0" i="0" err="1">
                <a:solidFill>
                  <a:schemeClr val="bg1"/>
                </a:solidFill>
                <a:latin typeface="Arial"/>
              </a:rPr>
              <a:t>Sparad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händelselogg</a:t>
            </a:r>
            <a:r>
              <a:rPr sz="980" b="0" i="0">
                <a:solidFill>
                  <a:schemeClr val="bg1"/>
                </a:solidFill>
                <a:latin typeface="Arial"/>
              </a:rPr>
              <a:t> och replay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blir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kursmaterial</a:t>
            </a:r>
            <a:r>
              <a:rPr sz="980" b="0" i="0">
                <a:solidFill>
                  <a:schemeClr val="bg1"/>
                </a:solidFill>
                <a:latin typeface="Arial"/>
              </a:rPr>
              <a:t>: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gå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igenom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beslut</a:t>
            </a:r>
            <a:r>
              <a:rPr sz="980" b="0" i="0">
                <a:solidFill>
                  <a:schemeClr val="bg1"/>
                </a:solidFill>
                <a:latin typeface="Arial"/>
              </a:rPr>
              <a:t>,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risknivå</a:t>
            </a:r>
            <a:r>
              <a:rPr sz="980" b="0" i="0">
                <a:solidFill>
                  <a:schemeClr val="bg1"/>
                </a:solidFill>
                <a:latin typeface="Arial"/>
              </a:rPr>
              <a:t>,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utfall</a:t>
            </a:r>
            <a:r>
              <a:rPr sz="980" b="0" i="0">
                <a:solidFill>
                  <a:schemeClr val="bg1"/>
                </a:solidFill>
                <a:latin typeface="Arial"/>
              </a:rPr>
              <a:t> och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alternativa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handlingsvägar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tillsammans</a:t>
            </a:r>
            <a:r>
              <a:rPr sz="980" b="0" i="0">
                <a:solidFill>
                  <a:schemeClr val="bg1"/>
                </a:solidFill>
                <a:latin typeface="Arial"/>
              </a:rPr>
              <a:t> </a:t>
            </a:r>
            <a:r>
              <a:rPr lang="en-US" sz="980" b="0" i="0" err="1">
                <a:solidFill>
                  <a:schemeClr val="bg1"/>
                </a:solidFill>
                <a:latin typeface="Arial"/>
              </a:rPr>
              <a:t>efteråt</a:t>
            </a:r>
            <a:r>
              <a:rPr sz="980" b="0" i="0">
                <a:solidFill>
                  <a:schemeClr val="bg1"/>
                </a:solidFill>
                <a:latin typeface="Arial"/>
              </a:rPr>
              <a:t>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0000" y="3490000"/>
            <a:ext cx="3460000" cy="1180000"/>
          </a:xfrm>
          <a:prstGeom prst="rect">
            <a:avLst/>
          </a:prstGeom>
          <a:solidFill>
            <a:srgbClr val="153366"/>
          </a:solidFill>
          <a:ln w="11430">
            <a:solidFill>
              <a:srgbClr val="35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20000" y="3490000"/>
            <a:ext cx="3460000" cy="85000"/>
          </a:xfrm>
          <a:prstGeom prst="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50000" y="3710000"/>
            <a:ext cx="3000000" cy="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Scenarier &amp;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0000" y="4050000"/>
            <a:ext cx="3000000" cy="4599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 err="1">
                <a:solidFill>
                  <a:schemeClr val="bg1"/>
                </a:solidFill>
                <a:latin typeface="Arial"/>
              </a:rPr>
              <a:t>Lägg</a:t>
            </a:r>
            <a:r>
              <a:rPr sz="980" b="0" i="0">
                <a:solidFill>
                  <a:schemeClr val="bg1"/>
                </a:solidFill>
                <a:latin typeface="Arial"/>
              </a:rPr>
              <a:t> till </a:t>
            </a:r>
            <a:r>
              <a:rPr sz="980" b="0" i="0" err="1">
                <a:solidFill>
                  <a:schemeClr val="bg1"/>
                </a:solidFill>
                <a:latin typeface="Arial"/>
              </a:rPr>
              <a:t>kampanjer</a:t>
            </a:r>
            <a:r>
              <a:rPr sz="980" b="0" i="0">
                <a:solidFill>
                  <a:schemeClr val="bg1"/>
                </a:solidFill>
                <a:latin typeface="Arial"/>
              </a:rPr>
              <a:t>, hot och baser via config och </a:t>
            </a:r>
            <a:r>
              <a:rPr sz="980" b="0" i="0" err="1">
                <a:solidFill>
                  <a:schemeClr val="bg1"/>
                </a:solidFill>
                <a:latin typeface="Arial"/>
              </a:rPr>
              <a:t>koppla</a:t>
            </a:r>
            <a:r>
              <a:rPr sz="980" b="0" i="0">
                <a:solidFill>
                  <a:schemeClr val="bg1"/>
                </a:solidFill>
                <a:latin typeface="Arial"/>
              </a:rPr>
              <a:t> ATO-format, </a:t>
            </a:r>
            <a:r>
              <a:rPr sz="980" b="0" i="0" err="1">
                <a:solidFill>
                  <a:schemeClr val="bg1"/>
                </a:solidFill>
                <a:latin typeface="Arial"/>
              </a:rPr>
              <a:t>resursdata</a:t>
            </a:r>
            <a:r>
              <a:rPr sz="980" b="0" i="0">
                <a:solidFill>
                  <a:schemeClr val="bg1"/>
                </a:solidFill>
                <a:latin typeface="Arial"/>
              </a:rPr>
              <a:t> och k</a:t>
            </a:r>
            <a:r>
              <a:rPr lang="sv-SE" sz="980" b="0" i="0" err="1">
                <a:solidFill>
                  <a:schemeClr val="bg1"/>
                </a:solidFill>
                <a:latin typeface="Arial"/>
              </a:rPr>
              <a:t>artor</a:t>
            </a:r>
            <a:r>
              <a:rPr lang="sv-SE" sz="980" b="0" i="0">
                <a:solidFill>
                  <a:schemeClr val="bg1"/>
                </a:solidFill>
                <a:latin typeface="Arial"/>
              </a:rPr>
              <a:t> </a:t>
            </a:r>
            <a:r>
              <a:rPr sz="980" b="0" i="0">
                <a:solidFill>
                  <a:schemeClr val="bg1"/>
                </a:solidFill>
                <a:latin typeface="Arial"/>
              </a:rPr>
              <a:t>mot Saab-interna </a:t>
            </a:r>
            <a:r>
              <a:rPr sz="980" b="0" i="0" err="1">
                <a:solidFill>
                  <a:schemeClr val="bg1"/>
                </a:solidFill>
                <a:latin typeface="Arial"/>
              </a:rPr>
              <a:t>verktyg</a:t>
            </a:r>
            <a:r>
              <a:rPr sz="980" b="0" i="0">
                <a:solidFill>
                  <a:schemeClr val="bg1"/>
                </a:solidFill>
                <a:latin typeface="Arial"/>
              </a:rPr>
              <a:t>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00" y="5720000"/>
            <a:ext cx="10920000" cy="470000"/>
          </a:xfrm>
          <a:prstGeom prst="rect">
            <a:avLst/>
          </a:prstGeom>
          <a:solidFill>
            <a:srgbClr val="153366"/>
          </a:solidFill>
          <a:ln w="12700">
            <a:solidFill>
              <a:srgbClr val="35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0000" y="5825000"/>
            <a:ext cx="10400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300" b="1" err="1">
                <a:solidFill>
                  <a:srgbClr val="D7AB3A"/>
                </a:solidFill>
                <a:latin typeface="Arial"/>
              </a:rPr>
              <a:t>Prova</a:t>
            </a:r>
            <a:r>
              <a:rPr sz="1300" b="1">
                <a:solidFill>
                  <a:srgbClr val="D7AB3A"/>
                </a:solidFill>
                <a:latin typeface="Arial"/>
              </a:rPr>
              <a:t> live-demon</a:t>
            </a:r>
            <a:r>
              <a:rPr lang="en-US" sz="1300" b="1">
                <a:solidFill>
                  <a:schemeClr val="bg1"/>
                </a:solidFill>
                <a:latin typeface="Arial"/>
              </a:rPr>
              <a:t>:  </a:t>
            </a:r>
            <a:r>
              <a:rPr lang="en-US" sz="1300" b="1" u="sng">
                <a:solidFill>
                  <a:schemeClr val="bg1"/>
                </a:solidFill>
                <a:latin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https://hungnguyenforworks-lgtm.github.io/SAAB-Smart-Airbase-with-Road2Air/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2026-06-12T13:28:24Z</dcterms:modified>
  <cp:category/>
</cp:coreProperties>
</file>