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hungnguyenforworks-lgtm.github.io/SAAB-Smart-Airbase-with-Road2Ai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ngnguyenforworks-lgtm.github.io/SAAB-Smart-Airbase-with-Road2Air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80000"/>
            <a:ext cx="12192000" cy="60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ipen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710000"/>
            <a:ext cx="2500000" cy="1764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00" y="2480000"/>
            <a:ext cx="1091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7AB3A"/>
                </a:solidFill>
                <a:latin typeface="Arial"/>
              </a:rPr>
              <a:t>TEKNISK PRE-READ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00" y="2820000"/>
            <a:ext cx="56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ROAD2AIR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" y="3560000"/>
            <a:ext cx="5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7AB3A"/>
                </a:solidFill>
                <a:latin typeface="Arial"/>
              </a:rPr>
              <a:t>Digital flygbassimulator för Smart Air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" y="4100000"/>
            <a:ext cx="5450000" cy="9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C9D4E6"/>
                </a:solidFill>
                <a:latin typeface="Arial"/>
              </a:rPr>
              <a:t>En webbaserad digitalisering av flygbasbrädspelet: spelbar 7-dygns kampanj, ATO-hantering, stokastiska utfall, underhåll, resurser, taktisk karta och AI-stöd i ett sammanhängande operativt läge.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00" y="5180000"/>
            <a:ext cx="5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7AB3A"/>
                </a:solidFill>
                <a:latin typeface="Arial"/>
              </a:rPr>
              <a:t>LIVE-DEMO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" y="5500000"/>
            <a:ext cx="58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u="sng">
                <a:solidFill>
                  <a:srgbClr val="FFFFFF"/>
                </a:solidFill>
                <a:latin typeface="Arial"/>
                <a:hlinkClick r:id="rId3"/>
              </a:rPr>
              <a:t>https://hungnguyenforworks-lgtm.github.io/SAAB-Smart-Airbase-with-Road2Air/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0000" y="710000"/>
            <a:ext cx="4920000" cy="4850000"/>
          </a:xfrm>
          <a:prstGeom prst="rect">
            <a:avLst/>
          </a:prstGeom>
          <a:solidFill>
            <a:srgbClr val="153366"/>
          </a:solidFill>
          <a:ln w="1397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0000" y="970000"/>
            <a:ext cx="420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AB3A"/>
                </a:solidFill>
                <a:latin typeface="Arial"/>
              </a:rPr>
              <a:t>SAMMANFATTNING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0000" y="1410000"/>
            <a:ext cx="4200000" cy="377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60" b="1">
                <a:solidFill>
                  <a:srgbClr val="D7AB3A"/>
                </a:solidFill>
                <a:latin typeface="Arial"/>
              </a:rPr>
              <a:t>▪  </a:t>
            </a:r>
            <a:r>
              <a:rPr sz="1160" b="1">
                <a:solidFill>
                  <a:srgbClr val="E6ECF6"/>
                </a:solidFill>
                <a:latin typeface="Arial"/>
              </a:rPr>
              <a:t>Bygger på Saabs brädspel</a:t>
            </a:r>
            <a:r>
              <a:rPr sz="1160" b="0">
                <a:solidFill>
                  <a:srgbClr val="E6ECF6"/>
                </a:solidFill>
                <a:latin typeface="Arial"/>
              </a:rPr>
              <a:t>: flygbasbrädspelets faser, baser, ATO-flöde och tärningstabeller, digitaliserade.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60" b="1">
                <a:solidFill>
                  <a:srgbClr val="D7AB3A"/>
                </a:solidFill>
                <a:latin typeface="Arial"/>
              </a:rPr>
              <a:t>▪  </a:t>
            </a:r>
            <a:r>
              <a:rPr sz="1160" b="1">
                <a:solidFill>
                  <a:srgbClr val="E6ECF6"/>
                </a:solidFill>
                <a:latin typeface="Arial"/>
              </a:rPr>
              <a:t>Spelbar simulering</a:t>
            </a:r>
            <a:r>
              <a:rPr sz="1160" b="0">
                <a:solidFill>
                  <a:srgbClr val="E6ECF6"/>
                </a:solidFill>
                <a:latin typeface="Arial"/>
              </a:rPr>
              <a:t>: inte en mockup; koden räknar fram lägesbilden dygn för dygn.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60" b="1">
                <a:solidFill>
                  <a:srgbClr val="D7AB3A"/>
                </a:solidFill>
                <a:latin typeface="Arial"/>
              </a:rPr>
              <a:t>▪  </a:t>
            </a:r>
            <a:r>
              <a:rPr sz="1160" b="1">
                <a:solidFill>
                  <a:srgbClr val="E6ECF6"/>
                </a:solidFill>
                <a:latin typeface="Arial"/>
              </a:rPr>
              <a:t>Körs i webbläsaren</a:t>
            </a:r>
            <a:r>
              <a:rPr sz="1160" b="0">
                <a:solidFill>
                  <a:srgbClr val="E6ECF6"/>
                </a:solidFill>
                <a:latin typeface="Arial"/>
              </a:rPr>
              <a:t>: ingen backend och inget att installera.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160" b="1">
                <a:solidFill>
                  <a:srgbClr val="D7AB3A"/>
                </a:solidFill>
                <a:latin typeface="Arial"/>
              </a:rPr>
              <a:t>▪  </a:t>
            </a:r>
            <a:r>
              <a:rPr sz="1160" b="1">
                <a:solidFill>
                  <a:srgbClr val="E6ECF6"/>
                </a:solidFill>
                <a:latin typeface="Arial"/>
              </a:rPr>
              <a:t>Byggd att utöka</a:t>
            </a:r>
            <a:r>
              <a:rPr sz="1160" b="0">
                <a:solidFill>
                  <a:srgbClr val="E6ECF6"/>
                </a:solidFill>
                <a:latin typeface="Arial"/>
              </a:rPr>
              <a:t>: nya scenarier och mekanik läggs till via config.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0000" y="4860000"/>
            <a:ext cx="1220000" cy="330000"/>
          </a:xfrm>
          <a:prstGeom prst="round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0000" y="4920000"/>
            <a:ext cx="1220000" cy="1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VINNARE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0000" y="4860000"/>
            <a:ext cx="1520000" cy="330000"/>
          </a:xfrm>
          <a:prstGeom prst="round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0000" y="4920000"/>
            <a:ext cx="1520000" cy="1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234C"/>
                </a:solidFill>
                <a:latin typeface="Arial"/>
              </a:rPr>
              <a:t>5 VYER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80000" y="4860000"/>
            <a:ext cx="920000" cy="330000"/>
          </a:xfrm>
          <a:prstGeom prst="round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0000" y="4920000"/>
            <a:ext cx="920000" cy="1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0000" y="5360000"/>
            <a:ext cx="4180000" cy="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6"/>
                </a:solidFill>
                <a:latin typeface="Arial"/>
              </a:rPr>
              <a:t>Dashboard · ATO · karta · flygplansvy · After-Action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00" y="628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9D4E6"/>
                </a:solidFill>
                <a:latin typeface="Arial"/>
              </a:rPr>
              <a:t>ROAD2AIR · Digital flygbassimulator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0000" y="6280000"/>
            <a:ext cx="29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9D4E6"/>
                </a:solidFill>
                <a:latin typeface="Arial"/>
              </a:rPr>
              <a:t>SAAB Smart Airbase Hackathon · Vinnare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01  </a:t>
            </a:r>
            <a:r>
              <a:rPr sz="3000" b="1" i="0">
                <a:solidFill>
                  <a:srgbClr val="0C234C"/>
                </a:solidFill>
                <a:latin typeface="Arial"/>
              </a:rPr>
              <a:t>Plattform &amp;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Klientbaserad webbapplikation: enkel att demonstrera, enkel att hosta, enkel att granska.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00" y="131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530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KÖRNINGSMILJÖ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00" y="196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000" y="196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0000" y="196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Modern webbläsare; all simulering sker klient-sidigt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00" y="252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252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0000" y="252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Statisk build i dist/ via Vite; hostas på GitHub Pages eller valfri statisk webbhost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00" y="308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08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0000" y="308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Ingen server, databas, API eller WebSocket-beroende i nuvarande 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00" y="364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00" y="364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Utveckling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0000" y="364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npm ci + npm run dev; Vite-server på port 8080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00" y="4200000"/>
            <a:ext cx="5220000" cy="560000"/>
          </a:xfrm>
          <a:prstGeom prst="rect">
            <a:avLst/>
          </a:prstGeom>
          <a:solidFill>
            <a:srgbClr val="F2F4F8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000" y="420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Produktion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0000" y="420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npm run build; base path /smart-airbase-system/ enligt vite.config.ts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00" y="4760000"/>
            <a:ext cx="5220000" cy="560000"/>
          </a:xfrm>
          <a:prstGeom prst="rect">
            <a:avLst/>
          </a:prstGeom>
          <a:solidFill>
            <a:srgbClr val="FFFFFF"/>
          </a:solidFill>
          <a:ln w="8890">
            <a:solidFill>
              <a:srgbClr val="E0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" y="4760000"/>
            <a:ext cx="145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880"/>
                </a:solidFill>
                <a:latin typeface="Arial"/>
              </a:rPr>
              <a:t>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0000" y="4760000"/>
            <a:ext cx="332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234C"/>
                </a:solidFill>
                <a:latin typeface="Arial"/>
              </a:rPr>
              <a:t>GitHub Actions bygger med Node 20 och publicerar dist till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0000" y="1560000"/>
            <a:ext cx="5270000" cy="392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0000" y="1780000"/>
            <a:ext cx="47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TEKNIKSTACK I BOTTEN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0000" y="2220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UI/runtime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0000" y="222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React 18.3 + React DOM + React Router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000" y="2645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Språk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0000" y="2645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TypeScript 5.8; alias @/* till src/*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0000" y="3070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0000" y="307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Vite 5.4 + @vitejs/plugin-react-swc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0000" y="3495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Styling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0000" y="3495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Tailwind CSS 3.4 + Radix/shadcn-primitives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000" y="3920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Karta/visualisering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0000" y="392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MapLibre GL, react-map-gl, Recharts, Framer 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0000" y="4345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000" y="4345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React useReducer + Context; ingen Redux/Zustand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0000" y="4770000"/>
            <a:ext cx="15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5A6880"/>
                </a:solidFill>
                <a:latin typeface="Arial"/>
              </a:rPr>
              <a:t>Kvalitet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0000" y="477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0C234C"/>
                </a:solidFill>
                <a:latin typeface="Arial"/>
              </a:rPr>
              <a:t>ESLint 9, Vitest/jsdom, Playwright-konfiguration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00" y="5480000"/>
            <a:ext cx="52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A5B78"/>
                </a:solidFill>
                <a:latin typeface="Arial"/>
              </a:rPr>
              <a:t>Konsekvens: lösningen kan skickas som URL eller köras lokalt efter installation av Node/npm. Efter initial laddning finns ingen runtime-koppling till externa tjänster.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00" y="642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ROAD2AIR · Digital flygbassimulator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0000" y="6420000"/>
            <a:ext cx="29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SAAB Smart Airbase Hackathon · Vinnare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02  </a:t>
            </a:r>
            <a:r>
              <a:rPr sz="3000" b="1" i="0">
                <a:solidFill>
                  <a:srgbClr val="0C234C"/>
                </a:solidFill>
                <a:latin typeface="Arial"/>
              </a:rPr>
              <a:t>Arkitektur &amp; dataflöde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En riktad kedja från användarbeslut till validerad tillståndsförändring.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00" y="131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00" y="1600000"/>
            <a:ext cx="5000000" cy="79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000" y="1725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000" y="2000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9D4E6"/>
                </a:solidFill>
                <a:latin typeface="Arial"/>
              </a:rPr>
              <a:t>Pages + komponenter: dashboard, ATO, karta, flygplan, AAR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40000" y="2320000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00" y="2530000"/>
            <a:ext cx="5000000" cy="790000"/>
          </a:xfrm>
          <a:prstGeom prst="rect">
            <a:avLst/>
          </a:prstGeom>
          <a:solidFill>
            <a:srgbClr val="15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2655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State-brygga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000" y="2930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9D4E6"/>
                </a:solidFill>
                <a:latin typeface="Arial"/>
              </a:rPr>
              <a:t>GameProvider + useGameEngine exponerar state och kommandon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940000" y="3250000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00" y="3460000"/>
            <a:ext cx="5000000" cy="79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000" y="3585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C234C"/>
                </a:solidFill>
                <a:latin typeface="Arial"/>
              </a:rPr>
              <a:t>Ren spelmotor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000" y="3860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C9D4E6"/>
                </a:solidFill>
                <a:latin typeface="Arial"/>
              </a:rPr>
              <a:t>gameReducer(state, action) validerar och returnerar nytt GameState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940000" y="4180000"/>
            <a:ext cx="360000" cy="265000"/>
          </a:xfrm>
          <a:prstGeom prst="downArrow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00" y="4390000"/>
            <a:ext cx="5000000" cy="7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000" y="4515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C234C"/>
                </a:solidFill>
                <a:latin typeface="Arial"/>
              </a:rPr>
              <a:t>Config &amp; typer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000" y="4790000"/>
            <a:ext cx="44500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A5B78"/>
                </a:solidFill>
                <a:latin typeface="Arial"/>
              </a:rPr>
              <a:t>types/game.ts + src/data/config styr faser, sannolikheter, tider och kapacitet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0000" y="1560000"/>
            <a:ext cx="5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RUNTIME-FLÖDE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0000" y="1960000"/>
            <a:ext cx="5280000" cy="17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1. Klick, drag-drop eller formulär skickar ett kommando via useGame().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2. GameAction dispatchas till reducer och kontrolleras i validateAction().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3. Giltig action går till faslogik eller specifik handler i src/core/.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4. Nytt GameState skapas immutabelt; events/rekommendationer uppdateras.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5. React Context propagerar state; alla vyer renderar samma sanning.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0C234C"/>
                </a:solidFill>
                <a:latin typeface="Arial"/>
              </a:rPr>
              <a:t>6. Ogiltig action blockeras och ger varning i händelseloggen.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0000" y="3950000"/>
            <a:ext cx="52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192E"/>
                </a:solidFill>
                <a:latin typeface="Arial"/>
              </a:rPr>
              <a:t>DESIGNVAL SOM BÄR SYSTEMET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0000" y="4330000"/>
            <a:ext cx="5270000" cy="3771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sz="1080" b="1">
                <a:solidFill>
                  <a:srgbClr val="0C234C"/>
                </a:solidFill>
                <a:latin typeface="Arial"/>
              </a:rPr>
              <a:t>Single source of truth</a:t>
            </a:r>
            <a:r>
              <a:rPr sz="1080" b="0">
                <a:solidFill>
                  <a:srgbClr val="0C234C"/>
                </a:solidFill>
                <a:latin typeface="Arial"/>
              </a:rPr>
              <a:t>: GameState och GameAction definieras i types/game.ts.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sz="1080" b="1">
                <a:solidFill>
                  <a:srgbClr val="0C234C"/>
                </a:solidFill>
                <a:latin typeface="Arial"/>
              </a:rPr>
              <a:t>Lätt att testa</a:t>
            </a:r>
            <a:r>
              <a:rPr sz="1080" b="0">
                <a:solidFill>
                  <a:srgbClr val="0C234C"/>
                </a:solidFill>
                <a:latin typeface="Arial"/>
              </a:rPr>
              <a:t>: core-moduler saknar React-beroenden och kan provas med state/action.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80" b="1">
                <a:solidFill>
                  <a:srgbClr val="D7AB3A"/>
                </a:solidFill>
                <a:latin typeface="Arial"/>
              </a:rPr>
              <a:t>▪  </a:t>
            </a:r>
            <a:r>
              <a:rPr sz="1080" b="1">
                <a:solidFill>
                  <a:srgbClr val="0C234C"/>
                </a:solidFill>
                <a:latin typeface="Arial"/>
              </a:rPr>
              <a:t>Datadriven tuning</a:t>
            </a:r>
            <a:r>
              <a:rPr sz="1080" b="0">
                <a:solidFill>
                  <a:srgbClr val="0C234C"/>
                </a:solidFill>
                <a:latin typeface="Arial"/>
              </a:rPr>
              <a:t>: balansvärden ligger i probabilities, durations, capacities och phases.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00" y="642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ROAD2AIR · Digital flygbassimulator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0000" y="6420000"/>
            <a:ext cx="29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SAAB Smart Airbase Hackathon · Vinnare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00" y="360000"/>
            <a:ext cx="92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D7AB3A"/>
                </a:solidFill>
                <a:latin typeface="Arial"/>
              </a:rPr>
              <a:t>03  </a:t>
            </a:r>
            <a:r>
              <a:rPr sz="3000" b="1" i="0">
                <a:solidFill>
                  <a:srgbClr val="0C234C"/>
                </a:solidFill>
                <a:latin typeface="Arial"/>
              </a:rPr>
              <a:t>Simuleringsmodell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880000"/>
            <a:ext cx="10500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5B78"/>
                </a:solidFill>
                <a:latin typeface="Arial"/>
              </a:rPr>
              <a:t>Operativ logik, resurser och stokastik ligger explicit i kod och config.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00" y="131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00" y="1580000"/>
            <a:ext cx="330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00" y="1580000"/>
            <a:ext cx="90000" cy="139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000" y="1740000"/>
            <a:ext cx="289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14-fas turcykel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000" y="2080000"/>
            <a:ext cx="2890000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Initialize -&gt; Interpret ATO -&gt; Review Resources -&gt; gruppering -&gt; bemanning -&gt; behov -&gt; tidsplan -&gt; tilldelning -&gt; klargöring -&gt; status/rekommendationer -&gt; utfall -&gt; rapport -&gt; UH-plan -&gt; tid.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0000" y="1580000"/>
            <a:ext cx="330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0000" y="1580000"/>
            <a:ext cx="90000" cy="1390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0000" y="1740000"/>
            <a:ext cx="289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7 dygns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00" y="2080000"/>
            <a:ext cx="2890000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Dag 1 FRED, dag 2-4 KRIS, dag 5-7 KRIG. Hot injiceras via config: CM dag 4, TBM dag 5, samt policybegränsning dag 7: plundring får ej ske.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0000" y="1580000"/>
            <a:ext cx="3750000" cy="139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00000" y="1580000"/>
            <a:ext cx="90000" cy="139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0000" y="1740000"/>
            <a:ext cx="334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9-state aircraft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0000" y="2080000"/>
            <a:ext cx="3340000" cy="7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ready -&gt; allocated -&gt; in_preparation -&gt; awaiting_launch -&gt; on_mission -&gt; returning -&gt; recovering -&gt; under_maintenance -&gt; unavailable.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00" y="3250000"/>
            <a:ext cx="330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00" y="3250000"/>
            <a:ext cx="90000" cy="1370000"/>
          </a:xfrm>
          <a:prstGeom prst="rect">
            <a:avLst/>
          </a:prstGeom>
          <a:solidFill>
            <a:srgbClr val="1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000" y="3410000"/>
            <a:ext cx="289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ATO och uppdrag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000" y="3750000"/>
            <a:ext cx="2890000" cy="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Order skapas, importeras, redigeras och visas som Gantt. Missionstyper omfattar QRA, DCA, RECCE, AEW, AI_DT, AI_ST, ESCORT, TRANSPORT och REBASE.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0000" y="3250000"/>
            <a:ext cx="330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0000" y="3250000"/>
            <a:ext cx="90000" cy="137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0000" y="3410000"/>
            <a:ext cx="289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Utfall och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00" y="3750000"/>
            <a:ext cx="2890000" cy="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Table A hanterar klargöring/startup BIT. Table B hanterar mottagning efter uppdrag. Tärning styr feltyp, facilitet, kompetens, reservdel, vapentapp och extra UH-tid.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0000" y="3250000"/>
            <a:ext cx="3750000" cy="1370000"/>
          </a:xfrm>
          <a:prstGeom prst="rect">
            <a:avLst/>
          </a:prstGeom>
          <a:solidFill>
            <a:srgbClr val="F2F4F8"/>
          </a:solidFill>
          <a:ln w="127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00000" y="3250000"/>
            <a:ext cx="90000" cy="1370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0000" y="3410000"/>
            <a:ext cx="334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0C234C"/>
                </a:solidFill>
                <a:latin typeface="Arial"/>
              </a:rPr>
              <a:t>Resursmodell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0000" y="3750000"/>
            <a:ext cx="3340000" cy="7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C4A63"/>
                </a:solidFill>
                <a:latin typeface="Arial"/>
              </a:rPr>
              <a:t>Baser har flygplan, bränsle, ammunition, reservdelar, personal, zonkapaciteter och UH-platser. MOB/FOB_N/FOB_S startar med olika skala och begränsningar.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00" y="4940000"/>
            <a:ext cx="10920000" cy="640000"/>
          </a:xfrm>
          <a:prstGeom prst="rect">
            <a:avLst/>
          </a:prstGeom>
          <a:solidFill>
            <a:srgbClr val="0C2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5090000"/>
            <a:ext cx="1042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FFFFFF"/>
                </a:solidFill>
                <a:latin typeface="Arial"/>
              </a:rPr>
              <a:t>Vad detta ger i praktiken: Saab kan diskutera basrobusthet, flaskhalsar, ATO-uppfyllnad, reparationsköer, reservdelsbrist och ombasering i samma simulerade läge.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" y="642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ROAD2AIR · Digital flygbassimulator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0000" y="6420000"/>
            <a:ext cx="29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7AD"/>
                </a:solidFill>
                <a:latin typeface="Arial"/>
              </a:rPr>
              <a:t>SAAB Smart Airbase Hackathon · Vinnare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50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00" y="560000"/>
            <a:ext cx="1091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D7AB3A"/>
                </a:solidFill>
                <a:latin typeface="Arial"/>
              </a:rPr>
              <a:t>VIDARE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900000"/>
            <a:ext cx="10900000" cy="6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Från demo till ett AI-stött, delat utbildningsverktyg för Saab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00" y="1540000"/>
            <a:ext cx="740000" cy="54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00" y="194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00" y="194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0000" y="216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Fördjupat AI-stöd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" y="250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Bygg vidare på dagens rådgivare till en AI som förklarar lägesbilden, föreslår underhålls- och ATO-strategier och kan agera motståndare eller mentor under spelets gång.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0000" y="194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0000" y="194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0000" y="216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Delat i realtid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000" y="250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Flera personer kopplar upp mot samma simulering i webbläsaren och fattar beslut tillsammans, var och en i sin roll: baschef, ATO-planering, logistik och underhåll.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0000" y="194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0000" y="194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0000" y="216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Utbildningsverktyg för Saab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000" y="250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Träningsmiljö där personal övar beslutsfattande under FRED, KRIS och KRIG i en riskfri men källtrogen modell av flygbasdriften.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00" y="349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000" y="371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AI som lärande motpart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000" y="405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Låt AI driva scenariot, ställa följdfrågor och peka på konsekvenser, så nya medarbetare snabbt får förståelse för basens flaskhalsar.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0000" y="3490000"/>
            <a:ext cx="3460000" cy="85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0000" y="371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AAR som lärande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000" y="405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Sparad händelselogg och replay blir kursmaterial: gå igenom beslut, risknivå, utfall och alternativa handlingsvägar tillsammans efteråt.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0000" y="3490000"/>
            <a:ext cx="3460000" cy="1180000"/>
          </a:xfrm>
          <a:prstGeom prst="rect">
            <a:avLst/>
          </a:prstGeom>
          <a:solidFill>
            <a:srgbClr val="153366"/>
          </a:solidFill>
          <a:ln w="1143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0000" y="3490000"/>
            <a:ext cx="3460000" cy="85000"/>
          </a:xfrm>
          <a:prstGeom prst="rect">
            <a:avLst/>
          </a:prstGeom>
          <a:solidFill>
            <a:srgbClr val="D9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0000" y="3710000"/>
            <a:ext cx="3000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Scenarier &amp;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0000" y="4050000"/>
            <a:ext cx="3000000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C9D4E6"/>
                </a:solidFill>
                <a:latin typeface="Arial"/>
              </a:rPr>
              <a:t>Lägg till kampanjer, hot och baser via config och koppla ATO-format, resursdata och kartlager mot Saab-interna verktyg.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00" y="5720000"/>
            <a:ext cx="10920000" cy="470000"/>
          </a:xfrm>
          <a:prstGeom prst="rect">
            <a:avLst/>
          </a:prstGeom>
          <a:solidFill>
            <a:srgbClr val="153366"/>
          </a:solidFill>
          <a:ln w="12700">
            <a:solidFill>
              <a:srgbClr val="35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" y="5825000"/>
            <a:ext cx="104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7AB3A"/>
                </a:solidFill>
                <a:latin typeface="Arial"/>
              </a:rPr>
              <a:t>Prova live-demon:  </a:t>
            </a: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https://hungnguyenforworks-lgtm.github.io/SAAB-Smart-Airbase-with-Road2Air/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D7A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00" y="6280000"/>
            <a:ext cx="7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9D4E6"/>
                </a:solidFill>
                <a:latin typeface="Arial"/>
              </a:rPr>
              <a:t>ROAD2AIR · Digital flygbassimulator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0000" y="6280000"/>
            <a:ext cx="295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C9D4E6"/>
                </a:solidFill>
                <a:latin typeface="Arial"/>
              </a:rPr>
              <a:t>SAAB Smart Airbase Hackathon · Vinnare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